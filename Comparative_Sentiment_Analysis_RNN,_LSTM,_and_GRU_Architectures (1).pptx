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Good morning. I'm pleased to present our comparative study on deep learning architectures for sentiment analysis. Our research focuses on evaluating the performance of three key Recurrent Neural Network variants—the standard RNN, the Long Short-Term Memory network, and the Gated Recurrent Unit. The goal is to rigorously determine which architecture provides the optimal balance of accuracy and efficiency when processing large volumes of social media text. This work is critical for advancing automated understanding of public opinion in the digital sphere. We will be analyzing how these models handle the inherent complexities of natural language processing. Let's begin by establishing the motivation for this comparative approach.</a:t>
            </a:r>
            <a:endParaRPr sz="1500"/>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The sheer volume of text data generated daily on platforms like Twitter makes automated sentiment analysis absolutely essential. However, this task is far from trivial. Traditional, lexicon-based methods often fail to capture the nuances of human language, struggling with sarcasm, negation, and context that spans multiple clauses. This complexity necessitates a more robust solution. We turn to Deep Learning, specifically Recurrent Neural Networks, because they are inherently designed to process sequential data like text. Our study aims to move beyond simply using an RNN and instead compare the most popular variants to find the most effective tool for this critical task. This comparison is motivated by the known limitations of the standard RNN, which we'll discuss next.</a:t>
            </a:r>
            <a:endParaRPr sz="1500"/>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The core limitation of the standard RNN is the vanishing gradient problem, which prevents it from learning long-term dependencies. The architecture is simple: the hidden state is the only memory. During training, we use Backpropagation Through Time, which involves repeatedly multiplying the same weight matrix across many time steps. This multiplication causes the gradients—the signals that drive learning—to shrink exponentially as they propagate backward through the sequence. Consequently, the network effectively forgets information from the beginning of a long sentence. This architectural failure makes the standard RNN unsuitable for sentiment analysis where the context of early words is often crucial for determining the final sentiment. This fundamental issue is what drove the development of more sophisticated, gated architectures.</a:t>
            </a:r>
            <a:endParaRPr sz="1500"/>
          </a:p>
        </p:txBody>
      </p:sp>
      <p:sp>
        <p:nvSpPr>
          <p:cNvPr id="40" name="Google Shape;4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To conduct a fair comparison, we standardized our experimental setup using the Sentiment140 dataset, which provides 1.6 million tweets labeled via distant supervision. This large, balanced dataset is ideal for training deep learning models. Our methodology involved a rigorous preprocessing pipeline to clean the raw data, removing noise like URLs and mentions, and then tokenizing and padding the sequences to a uniform length of 30. We then split the data into standard training, testing, and validation sets to ensure an unbiased evaluation. The flow chart visually represents this entire process, ensuring reproducibility. Now that we've established the problem and the data, we can examine the first solution to the vanishing gradient problem: the LSTM.</a:t>
            </a:r>
            <a:endParaRPr sz="1500"/>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The Long Short-Term Memory network was the first major breakthrough in solving the vanishing gradient problem. Its innovation lies in introducing a dedicated Cell State, which acts as a memory highway running through the unit. This memory is regulated by three intelligent gates: the Forget Gate, the Input Gate, and the Output Gate. The Forget Gate selectively decides what information to discard from the Cell State, while the Input Gate determines what new information should be stored. Finally, the Output Gate controls what part of the Cell State is exposed as the next Hidden State. By explicitly controlling the flow of information, the LSTM can maintain a stable gradient and successfully preserve long-term dependencies over hundreds of time steps. This ability is what makes it a powerful candidate for our sentiment analysis task. Next, we'll look at a more streamlined version of this concept.</a:t>
            </a:r>
            <a:endParaRPr sz="1500"/>
          </a:p>
        </p:txBody>
      </p:sp>
      <p:sp>
        <p:nvSpPr>
          <p:cNvPr id="84" name="Google Shape;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Following the introduction of the LSTM, the Gated Recurrent Unit, or GRU, emerged as a highly efficient alternative. The key message here is that we can achieve comparable performance with a simpler, faster architecture. The GRU streamlines the LSTM's three gates into just two: the Update Gate and the Reset Gate. The Update Gate is particularly clever, as it controls the balance between retaining past information and incorporating new input, effectively combining the LSTM's Forget and Input gates. This architectural simplification is not merely academic; it translates directly into fewer parameters, which means faster training times and a reduced risk of overfitting, especially on large datasets like ours. We found that this efficiency does not compromise efficacy; the GRU's performance is often nearly identical to the more complex LSTM. This makes the GRU a highly attractive model for real-world deployment. Now, let's look at how we implemented these models in code.</a:t>
            </a:r>
            <a:endParaRPr sz="1500"/>
          </a:p>
        </p:txBody>
      </p:sp>
      <p:sp>
        <p:nvSpPr>
          <p:cNvPr id="106" name="Google Shape;10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We now shift to the implementation details, starting with the Keras definition for our LSTM model. It is critical to note that all three models—the RNN, LSTM, and GRU—share the exact same input and output layers to ensure a fair comparison. The process begins with the Embedding layer, which converts our tokenized words into dense vector representations. The core of the model is the LSTM layer itself, where we employ dropout and recurrent dropout for robust regularization against overfitting. Finally, the sequence is processed through dense layers, culminating in a single-unit output layer with a Sigmoid activation, which is necessary for our binary classification task. The Adam optimizer and binary cross-entropy loss function are standard choices for this type of problem. This standardized structure allows us to isolate the performance differences purely to the recurrent unit's architecture. Before we can train these models, however, we must first prepare the raw data.</a:t>
            </a:r>
            <a:endParaRPr sz="1500"/>
          </a:p>
        </p:txBody>
      </p:sp>
      <p:sp>
        <p:nvSpPr>
          <p:cNvPr id="125" name="Google Shape;12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A robust preprocessing step is absolutely crucial for the success of any natural language processing project. This code snippet illustrates the initial cleaning function we applied to the raw Twitter data. The primary goal here is to remove noise that is irrelevant to the sentiment itself. We use a regular expression to systematically strip out user mentions, URLs, and any non-alphanumeric characters. This ensures that the models are forced to learn from the actual linguistic content, not from metadata or noise. We also convert all text to lowercase for standardization, which reduces the vocabulary size and improves generalization. Standardizing the input in this manner is a prerequisite for effective embedding and subsequent model training. With the data cleaned and the models defined, we can now examine the comparative performance results.</a:t>
            </a:r>
            <a:endParaRPr sz="1500"/>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The experimental results clearly validate our hypothesis regarding the necessity of gated architectures for this task. The GRU model achieved the highest performance across both key metrics, with a test accuracy of 83.01% and an F1-Score of 82.88%. The LSTM was a very close second, confirming its robustness in handling long-term dependencies. Most importantly, the standard RNN lagged significantly behind, with an accuracy gap of over two percentage points. This definitively confirms that the vanishing gradient problem renders the simple RNN unsuitable for effective sentiment analysis on sequences of this length. The marginal but consistent advantage of the GRU over the LSTM, combined with its superior computational efficiency, makes it the optimal choice for this specific application. Next, we will visually examine the training stability of these models by looking at their loss and accuracy curves.</a:t>
            </a:r>
            <a:endParaRPr sz="1500"/>
          </a:p>
        </p:txBody>
      </p:sp>
      <p:sp>
        <p:nvSpPr>
          <p:cNvPr id="149" name="Google Shape;14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We have established that the GRU achieved the highest metrics, but these curves are essential for visualizing the stability and convergence of our models during training. We see that the GRU and LSTM curves demonstrate a smooth, consistent decrease in loss and a corresponding increase in accuracy across epochs. This stability confirms that the gating mechanisms effectively manage the gradient flow, allowing for robust optimization. Conversely, the standard RNN curve often plateaus earlier or shows more erratic behavior, visually confirming the difficulty it has in optimizing its weights due to the vanishing gradient problem we discussed earlier. Furthermore, the minimal gap between the training and validation curves for the GRU and LSTM suggests excellent generalization capability. This is critical; it means the models are learning the underlying patterns in the data, not just memorizing the training examples. Now, let us move from the overall accuracy to a more granular view of where these models are succeeding and failing.</a:t>
            </a:r>
            <a:endParaRPr sz="1500"/>
          </a:p>
        </p:txBody>
      </p:sp>
      <p:sp>
        <p:nvSpPr>
          <p:cNvPr id="180" name="Google Shape;1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The confusion matrices provide a critical, granular view of the classification breakdown, moving beyond the single accuracy number. We are primarily interested in maximizing the values on the main diagonal—the True Positives and True Negatives—which represent correct classifications. As expected, the heatmaps for the GRU and LSTM show significantly higher values on this diagonal compared to the standard RNN. This visually confirms that the gated architectures are far more effective at correctly identifying both positive and negative sentiments. The RNN, in contrast, exhibits more off-diagonal errors, meaning it is misclassifying a greater number of tweets. This detailed breakdown reinforces our finding that the architectural improvements in the GRU and LSTM translate directly into superior performance in distinguishing between the two sentiment classes. We can now synthesize these findings into our final conclusions.</a:t>
            </a:r>
            <a:endParaRPr sz="1500"/>
          </a:p>
        </p:txBody>
      </p:sp>
      <p:sp>
        <p:nvSpPr>
          <p:cNvPr id="191" name="Google Shape;19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In conclusion, our comparative study provides a definitive answer regarding the optimal architecture for this sentiment analysis task. The GRU model delivered the highest test accuracy at 83.01%, demonstrating a superior balance of performance and computational efficiency. This confirms that the simplified, two-gate mechanism of the GRU is highly effective and more efficient than the three-gate LSTM for this specific dataset. The overarching takeaway is that gating mechanisms are not merely an option; they are mandatory for effective sentiment analysis on sequential data where long-term dependencies are crucial. Looking ahead, we plan to build upon this strong foundation by exploring hybrid architectures, such as Bi-GRU-LSTM models, to potentially squeeze out marginal performance gains. More importantly, we will integrate advanced pre-trained embeddings like BERT to capture richer semantic context, which should push our performance boundaries even further. Thank you. I welcome your questions.</a:t>
            </a:r>
            <a:endParaRPr sz="1500"/>
          </a:p>
        </p:txBody>
      </p:sp>
      <p:sp>
        <p:nvSpPr>
          <p:cNvPr id="228" name="Google Shape;22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3"/>
          <p:cNvSpPr/>
          <p:nvPr/>
        </p:nvSpPr>
        <p:spPr>
          <a:xfrm>
            <a:off x="1838120" y="1681990"/>
            <a:ext cx="5467731" cy="445759"/>
          </a:xfrm>
          <a:prstGeom prst="rect">
            <a:avLst/>
          </a:prstGeom>
          <a:noFill/>
          <a:ln>
            <a:noFill/>
          </a:ln>
        </p:spPr>
        <p:txBody>
          <a:bodyPr anchorCtr="0" anchor="t" bIns="0" lIns="0" spcFirstLastPara="1" rIns="0" wrap="square" tIns="0">
            <a:noAutofit/>
          </a:bodyPr>
          <a:lstStyle/>
          <a:p>
            <a:pPr indent="0" lvl="0" marL="0" marR="0" rtl="0" algn="ctr">
              <a:lnSpc>
                <a:spcPct val="143678"/>
              </a:lnSpc>
              <a:spcBef>
                <a:spcPts val="0"/>
              </a:spcBef>
              <a:spcAft>
                <a:spcPts val="0"/>
              </a:spcAft>
              <a:buClr>
                <a:srgbClr val="000000"/>
              </a:buClr>
              <a:buSzPts val="2436"/>
              <a:buFont typeface="Calibri"/>
              <a:buNone/>
            </a:pPr>
            <a:r>
              <a:rPr b="1" i="0" lang="en-US" sz="2436" u="none" cap="none" strike="noStrike">
                <a:solidFill>
                  <a:srgbClr val="000000"/>
                </a:solidFill>
                <a:latin typeface="Calibri"/>
                <a:ea typeface="Calibri"/>
                <a:cs typeface="Calibri"/>
                <a:sym typeface="Calibri"/>
              </a:rPr>
              <a:t>Comparative Sentiment Analysis</a:t>
            </a:r>
            <a:endParaRPr b="0" i="0" sz="2436" u="none" cap="none" strike="noStrike">
              <a:solidFill>
                <a:schemeClr val="dk1"/>
              </a:solidFill>
              <a:latin typeface="Calibri"/>
              <a:ea typeface="Calibri"/>
              <a:cs typeface="Calibri"/>
              <a:sym typeface="Calibri"/>
            </a:endParaRPr>
          </a:p>
        </p:txBody>
      </p:sp>
      <p:sp>
        <p:nvSpPr>
          <p:cNvPr id="18" name="Google Shape;18;p3"/>
          <p:cNvSpPr/>
          <p:nvPr/>
        </p:nvSpPr>
        <p:spPr>
          <a:xfrm>
            <a:off x="1838120" y="2270624"/>
            <a:ext cx="5467731" cy="371475"/>
          </a:xfrm>
          <a:prstGeom prst="rect">
            <a:avLst/>
          </a:prstGeom>
          <a:noFill/>
          <a:ln>
            <a:noFill/>
          </a:ln>
        </p:spPr>
        <p:txBody>
          <a:bodyPr anchorCtr="0" anchor="t" bIns="0" lIns="0" spcFirstLastPara="1" rIns="0" wrap="square" tIns="0">
            <a:noAutofit/>
          </a:bodyPr>
          <a:lstStyle/>
          <a:p>
            <a:pPr indent="0" lvl="0" marL="0" marR="0" rtl="0" algn="ctr">
              <a:lnSpc>
                <a:spcPct val="143849"/>
              </a:lnSpc>
              <a:spcBef>
                <a:spcPts val="0"/>
              </a:spcBef>
              <a:spcAft>
                <a:spcPts val="0"/>
              </a:spcAft>
              <a:buClr>
                <a:srgbClr val="0044CC"/>
              </a:buClr>
              <a:buSzPts val="2016"/>
              <a:buFont typeface="Calibri"/>
              <a:buNone/>
            </a:pPr>
            <a:r>
              <a:rPr b="1" i="0" lang="en-US" sz="2016" u="none" cap="none" strike="noStrike">
                <a:solidFill>
                  <a:srgbClr val="0044CC"/>
                </a:solidFill>
                <a:latin typeface="Calibri"/>
                <a:ea typeface="Calibri"/>
                <a:cs typeface="Calibri"/>
                <a:sym typeface="Calibri"/>
              </a:rPr>
              <a:t>RNN, LSTM, and GRU Architectures</a:t>
            </a:r>
            <a:endParaRPr b="0" i="0" sz="2016" u="none" cap="none" strike="noStrike">
              <a:solidFill>
                <a:schemeClr val="dk1"/>
              </a:solidFill>
              <a:latin typeface="Calibri"/>
              <a:ea typeface="Calibri"/>
              <a:cs typeface="Calibri"/>
              <a:sym typeface="Calibri"/>
            </a:endParaRPr>
          </a:p>
        </p:txBody>
      </p:sp>
      <p:sp>
        <p:nvSpPr>
          <p:cNvPr id="19" name="Google Shape;19;p3"/>
          <p:cNvSpPr/>
          <p:nvPr/>
        </p:nvSpPr>
        <p:spPr>
          <a:xfrm>
            <a:off x="1838120" y="2856412"/>
            <a:ext cx="5467731" cy="280029"/>
          </a:xfrm>
          <a:prstGeom prst="rect">
            <a:avLst/>
          </a:prstGeom>
          <a:noFill/>
          <a:ln>
            <a:noFill/>
          </a:ln>
        </p:spPr>
        <p:txBody>
          <a:bodyPr anchorCtr="0" anchor="t" bIns="0" lIns="0" spcFirstLastPara="1" rIns="0" wrap="square" tIns="0">
            <a:noAutofit/>
          </a:bodyPr>
          <a:lstStyle/>
          <a:p>
            <a:pPr indent="0" lvl="0" marL="0" marR="0" rtl="0" algn="ctr">
              <a:lnSpc>
                <a:spcPct val="148048"/>
              </a:lnSpc>
              <a:spcBef>
                <a:spcPts val="0"/>
              </a:spcBef>
              <a:spcAft>
                <a:spcPts val="0"/>
              </a:spcAft>
              <a:buClr>
                <a:srgbClr val="333333"/>
              </a:buClr>
              <a:buSzPts val="1486"/>
              <a:buFont typeface="Calibri"/>
              <a:buNone/>
            </a:pPr>
            <a:r>
              <a:rPr b="0" i="0" lang="en-US" sz="1486" u="none" cap="none" strike="noStrike">
                <a:solidFill>
                  <a:srgbClr val="333333"/>
                </a:solidFill>
                <a:latin typeface="Calibri"/>
                <a:ea typeface="Calibri"/>
                <a:cs typeface="Calibri"/>
                <a:sym typeface="Calibri"/>
              </a:rPr>
              <a:t>A Deep Learning Approach to Social Media Data</a:t>
            </a:r>
            <a:endParaRPr b="0" i="0" sz="1486" u="none" cap="none" strike="noStrike">
              <a:solidFill>
                <a:schemeClr val="dk1"/>
              </a:solidFill>
              <a:latin typeface="Calibri"/>
              <a:ea typeface="Calibri"/>
              <a:cs typeface="Calibri"/>
              <a:sym typeface="Calibri"/>
            </a:endParaRPr>
          </a:p>
        </p:txBody>
      </p:sp>
      <p:sp>
        <p:nvSpPr>
          <p:cNvPr id="20" name="Google Shape;20;p3"/>
          <p:cNvSpPr/>
          <p:nvPr/>
        </p:nvSpPr>
        <p:spPr>
          <a:xfrm>
            <a:off x="1838120" y="3706155"/>
            <a:ext cx="5467731" cy="155377"/>
          </a:xfrm>
          <a:prstGeom prst="rect">
            <a:avLst/>
          </a:prstGeom>
          <a:noFill/>
          <a:ln>
            <a:noFill/>
          </a:ln>
        </p:spPr>
        <p:txBody>
          <a:bodyPr anchorCtr="0" anchor="t" bIns="0" lIns="0" spcFirstLastPara="1" rIns="0" wrap="square" tIns="0">
            <a:noAutofit/>
          </a:bodyPr>
          <a:lstStyle/>
          <a:p>
            <a:pPr indent="0" lvl="0" marL="0" marR="0" rtl="0" algn="ctr">
              <a:lnSpc>
                <a:spcPct val="131894"/>
              </a:lnSpc>
              <a:spcBef>
                <a:spcPts val="0"/>
              </a:spcBef>
              <a:spcAft>
                <a:spcPts val="0"/>
              </a:spcAft>
              <a:buClr>
                <a:srgbClr val="666666"/>
              </a:buClr>
              <a:buSzPts val="784"/>
              <a:buFont typeface="Calibri"/>
              <a:buNone/>
            </a:pPr>
            <a:r>
              <a:rPr b="1" i="0" lang="en-US" sz="784" u="none" cap="none" strike="noStrike">
                <a:solidFill>
                  <a:srgbClr val="666666"/>
                </a:solidFill>
                <a:latin typeface="Calibri"/>
                <a:ea typeface="Calibri"/>
                <a:cs typeface="Calibri"/>
                <a:sym typeface="Calibri"/>
              </a:rPr>
              <a:t>Date:</a:t>
            </a:r>
            <a:r>
              <a:rPr b="0" i="0" lang="en-US" sz="834" u="none" cap="none" strike="noStrike">
                <a:solidFill>
                  <a:srgbClr val="666666"/>
                </a:solidFill>
                <a:latin typeface="Calibri"/>
                <a:ea typeface="Calibri"/>
                <a:cs typeface="Calibri"/>
                <a:sym typeface="Calibri"/>
              </a:rPr>
              <a:t> December 2025</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pic>
        <p:nvPicPr>
          <p:cNvPr descr="preencoded.png" id="26" name="Google Shape;26;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7" name="Google Shape;27;p4"/>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Introduction &amp; Motivation</a:t>
            </a:r>
            <a:endParaRPr b="0" i="0" sz="987" u="none" cap="none" strike="noStrike">
              <a:solidFill>
                <a:schemeClr val="dk1"/>
              </a:solidFill>
              <a:latin typeface="Calibri"/>
              <a:ea typeface="Calibri"/>
              <a:cs typeface="Calibri"/>
              <a:sym typeface="Calibri"/>
            </a:endParaRPr>
          </a:p>
        </p:txBody>
      </p:sp>
      <p:sp>
        <p:nvSpPr>
          <p:cNvPr id="28" name="Google Shape;28;p4"/>
          <p:cNvSpPr/>
          <p:nvPr/>
        </p:nvSpPr>
        <p:spPr>
          <a:xfrm>
            <a:off x="571500" y="980480"/>
            <a:ext cx="357188" cy="509662"/>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0044CC"/>
              </a:buClr>
              <a:buSzPts val="1602"/>
              <a:buFont typeface="Calibri"/>
              <a:buNone/>
            </a:pPr>
            <a:r>
              <a:rPr b="1" i="0" lang="en-US" sz="1602" u="none" cap="none" strike="noStrike">
                <a:solidFill>
                  <a:srgbClr val="0044CC"/>
                </a:solidFill>
                <a:latin typeface="Calibri"/>
                <a:ea typeface="Calibri"/>
                <a:cs typeface="Calibri"/>
                <a:sym typeface="Calibri"/>
              </a:rPr>
              <a:t>1</a:t>
            </a:r>
            <a:endParaRPr b="0" i="0" sz="1602" u="none" cap="none" strike="noStrike">
              <a:solidFill>
                <a:schemeClr val="dk1"/>
              </a:solidFill>
              <a:latin typeface="Calibri"/>
              <a:ea typeface="Calibri"/>
              <a:cs typeface="Calibri"/>
              <a:sym typeface="Calibri"/>
            </a:endParaRPr>
          </a:p>
        </p:txBody>
      </p:sp>
      <p:sp>
        <p:nvSpPr>
          <p:cNvPr id="29" name="Google Shape;29;p4"/>
          <p:cNvSpPr/>
          <p:nvPr/>
        </p:nvSpPr>
        <p:spPr>
          <a:xfrm>
            <a:off x="1107281" y="980480"/>
            <a:ext cx="7465219"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0000"/>
              </a:buClr>
              <a:buSzPts val="784"/>
              <a:buFont typeface="Calibri"/>
              <a:buNone/>
            </a:pPr>
            <a:r>
              <a:rPr b="1" i="0" lang="en-US" sz="784" u="none" cap="none" strike="noStrike">
                <a:solidFill>
                  <a:srgbClr val="000000"/>
                </a:solidFill>
                <a:latin typeface="Calibri"/>
                <a:ea typeface="Calibri"/>
                <a:cs typeface="Calibri"/>
                <a:sym typeface="Calibri"/>
              </a:rPr>
              <a:t>Data Volume</a:t>
            </a:r>
            <a:endParaRPr b="0" i="0" sz="784" u="none" cap="none" strike="noStrike">
              <a:solidFill>
                <a:schemeClr val="dk1"/>
              </a:solidFill>
              <a:latin typeface="Calibri"/>
              <a:ea typeface="Calibri"/>
              <a:cs typeface="Calibri"/>
              <a:sym typeface="Calibri"/>
            </a:endParaRPr>
          </a:p>
        </p:txBody>
      </p:sp>
      <p:sp>
        <p:nvSpPr>
          <p:cNvPr id="30" name="Google Shape;30;p4"/>
          <p:cNvSpPr/>
          <p:nvPr/>
        </p:nvSpPr>
        <p:spPr>
          <a:xfrm>
            <a:off x="1107281" y="1193006"/>
            <a:ext cx="7465200" cy="297000"/>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Unprecedented growth of text data from social media platforms (e.g., Twitter, reviews). Automated analysis is essential for understanding public opinion and market trends.</a:t>
            </a:r>
            <a:endParaRPr b="0" i="0" sz="674" u="none" cap="none" strike="noStrike">
              <a:solidFill>
                <a:schemeClr val="dk1"/>
              </a:solidFill>
              <a:latin typeface="Calibri"/>
              <a:ea typeface="Calibri"/>
              <a:cs typeface="Calibri"/>
              <a:sym typeface="Calibri"/>
            </a:endParaRPr>
          </a:p>
        </p:txBody>
      </p:sp>
      <p:sp>
        <p:nvSpPr>
          <p:cNvPr id="31" name="Google Shape;31;p4"/>
          <p:cNvSpPr/>
          <p:nvPr/>
        </p:nvSpPr>
        <p:spPr>
          <a:xfrm>
            <a:off x="571500" y="1740173"/>
            <a:ext cx="357300" cy="3612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0044CC"/>
              </a:buClr>
              <a:buSzPts val="1602"/>
              <a:buFont typeface="Calibri"/>
              <a:buNone/>
            </a:pPr>
            <a:r>
              <a:rPr b="1" i="0" lang="en-US" sz="1602" u="none" cap="none" strike="noStrike">
                <a:solidFill>
                  <a:srgbClr val="0044CC"/>
                </a:solidFill>
                <a:latin typeface="Calibri"/>
                <a:ea typeface="Calibri"/>
                <a:cs typeface="Calibri"/>
                <a:sym typeface="Calibri"/>
              </a:rPr>
              <a:t>2</a:t>
            </a:r>
            <a:endParaRPr b="0" i="0" sz="1602" u="none" cap="none" strike="noStrike">
              <a:solidFill>
                <a:schemeClr val="dk1"/>
              </a:solidFill>
              <a:latin typeface="Calibri"/>
              <a:ea typeface="Calibri"/>
              <a:cs typeface="Calibri"/>
              <a:sym typeface="Calibri"/>
            </a:endParaRPr>
          </a:p>
        </p:txBody>
      </p:sp>
      <p:sp>
        <p:nvSpPr>
          <p:cNvPr id="32" name="Google Shape;32;p4"/>
          <p:cNvSpPr/>
          <p:nvPr/>
        </p:nvSpPr>
        <p:spPr>
          <a:xfrm>
            <a:off x="1107281" y="1740173"/>
            <a:ext cx="74652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0000"/>
              </a:buClr>
              <a:buSzPts val="784"/>
              <a:buFont typeface="Calibri"/>
              <a:buNone/>
            </a:pPr>
            <a:r>
              <a:rPr b="1" i="0" lang="en-US" sz="784" u="none" cap="none" strike="noStrike">
                <a:solidFill>
                  <a:srgbClr val="000000"/>
                </a:solidFill>
                <a:latin typeface="Calibri"/>
                <a:ea typeface="Calibri"/>
                <a:cs typeface="Calibri"/>
                <a:sym typeface="Calibri"/>
              </a:rPr>
              <a:t>Complexity</a:t>
            </a:r>
            <a:endParaRPr b="0" i="0" sz="784" u="none" cap="none" strike="noStrike">
              <a:solidFill>
                <a:schemeClr val="dk1"/>
              </a:solidFill>
              <a:latin typeface="Calibri"/>
              <a:ea typeface="Calibri"/>
              <a:cs typeface="Calibri"/>
              <a:sym typeface="Calibri"/>
            </a:endParaRPr>
          </a:p>
        </p:txBody>
      </p:sp>
      <p:sp>
        <p:nvSpPr>
          <p:cNvPr id="33" name="Google Shape;33;p4"/>
          <p:cNvSpPr/>
          <p:nvPr/>
        </p:nvSpPr>
        <p:spPr>
          <a:xfrm>
            <a:off x="1107281" y="1952699"/>
            <a:ext cx="7465200" cy="148500"/>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Traditional methods (lexicon-based) struggle with sarcasm, context, and long-range dependencies. Natural language is inherently complex and nuanced.</a:t>
            </a:r>
            <a:endParaRPr b="0" i="0" sz="674" u="none" cap="none" strike="noStrike">
              <a:solidFill>
                <a:schemeClr val="dk1"/>
              </a:solidFill>
              <a:latin typeface="Calibri"/>
              <a:ea typeface="Calibri"/>
              <a:cs typeface="Calibri"/>
              <a:sym typeface="Calibri"/>
            </a:endParaRPr>
          </a:p>
        </p:txBody>
      </p:sp>
      <p:sp>
        <p:nvSpPr>
          <p:cNvPr id="34" name="Google Shape;34;p4"/>
          <p:cNvSpPr/>
          <p:nvPr/>
        </p:nvSpPr>
        <p:spPr>
          <a:xfrm>
            <a:off x="571500" y="2351298"/>
            <a:ext cx="357300" cy="361200"/>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0044CC"/>
              </a:buClr>
              <a:buSzPts val="1602"/>
              <a:buFont typeface="Calibri"/>
              <a:buNone/>
            </a:pPr>
            <a:r>
              <a:rPr b="1" i="0" lang="en-US" sz="1602" u="none" cap="none" strike="noStrike">
                <a:solidFill>
                  <a:srgbClr val="0044CC"/>
                </a:solidFill>
                <a:latin typeface="Calibri"/>
                <a:ea typeface="Calibri"/>
                <a:cs typeface="Calibri"/>
                <a:sym typeface="Calibri"/>
              </a:rPr>
              <a:t>3</a:t>
            </a:r>
            <a:endParaRPr b="0" i="0" sz="1602" u="none" cap="none" strike="noStrike">
              <a:solidFill>
                <a:schemeClr val="dk1"/>
              </a:solidFill>
              <a:latin typeface="Calibri"/>
              <a:ea typeface="Calibri"/>
              <a:cs typeface="Calibri"/>
              <a:sym typeface="Calibri"/>
            </a:endParaRPr>
          </a:p>
        </p:txBody>
      </p:sp>
      <p:sp>
        <p:nvSpPr>
          <p:cNvPr id="35" name="Google Shape;35;p4"/>
          <p:cNvSpPr/>
          <p:nvPr/>
        </p:nvSpPr>
        <p:spPr>
          <a:xfrm>
            <a:off x="1107281" y="2351298"/>
            <a:ext cx="7465200" cy="155400"/>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0000"/>
              </a:buClr>
              <a:buSzPts val="784"/>
              <a:buFont typeface="Calibri"/>
              <a:buNone/>
            </a:pPr>
            <a:r>
              <a:rPr b="1" i="0" lang="en-US" sz="784" u="none" cap="none" strike="noStrike">
                <a:solidFill>
                  <a:srgbClr val="000000"/>
                </a:solidFill>
                <a:latin typeface="Calibri"/>
                <a:ea typeface="Calibri"/>
                <a:cs typeface="Calibri"/>
                <a:sym typeface="Calibri"/>
              </a:rPr>
              <a:t>Solution</a:t>
            </a:r>
            <a:endParaRPr b="0" i="0" sz="784" u="none" cap="none" strike="noStrike">
              <a:solidFill>
                <a:schemeClr val="dk1"/>
              </a:solidFill>
              <a:latin typeface="Calibri"/>
              <a:ea typeface="Calibri"/>
              <a:cs typeface="Calibri"/>
              <a:sym typeface="Calibri"/>
            </a:endParaRPr>
          </a:p>
        </p:txBody>
      </p:sp>
      <p:sp>
        <p:nvSpPr>
          <p:cNvPr id="36" name="Google Shape;36;p4"/>
          <p:cNvSpPr/>
          <p:nvPr/>
        </p:nvSpPr>
        <p:spPr>
          <a:xfrm>
            <a:off x="1107281" y="2563825"/>
            <a:ext cx="7465200" cy="148500"/>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Deep Learning, specifically Recurrent Neural Networks (RNNs), are best suited for sequential data like text. This study compares the most popular RNN variants.</a:t>
            </a:r>
            <a:endParaRPr b="0" i="0" sz="674"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pic>
        <p:nvPicPr>
          <p:cNvPr descr="preencoded.png" id="42" name="Google Shape;42;p5"/>
          <p:cNvPicPr preferRelativeResize="0"/>
          <p:nvPr/>
        </p:nvPicPr>
        <p:blipFill rotWithShape="1">
          <a:blip r:embed="rId3">
            <a:alphaModFix/>
          </a:blip>
          <a:srcRect b="0" l="0" r="0" t="0"/>
          <a:stretch/>
        </p:blipFill>
        <p:spPr>
          <a:xfrm>
            <a:off x="0" y="0"/>
            <a:ext cx="9144002" cy="5143501"/>
          </a:xfrm>
          <a:prstGeom prst="rect">
            <a:avLst/>
          </a:prstGeom>
          <a:noFill/>
          <a:ln>
            <a:noFill/>
          </a:ln>
        </p:spPr>
      </p:pic>
      <p:sp>
        <p:nvSpPr>
          <p:cNvPr id="43" name="Google Shape;43;p5"/>
          <p:cNvSpPr/>
          <p:nvPr/>
        </p:nvSpPr>
        <p:spPr>
          <a:xfrm>
            <a:off x="571500" y="428625"/>
            <a:ext cx="8001000" cy="19470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4040"/>
              </a:buClr>
              <a:buSzPts val="987"/>
              <a:buFont typeface="Calibri"/>
              <a:buNone/>
            </a:pPr>
            <a:r>
              <a:rPr b="1" i="0" lang="en-US" sz="987" u="none" cap="none" strike="noStrike">
                <a:solidFill>
                  <a:srgbClr val="FF4040"/>
                </a:solidFill>
                <a:latin typeface="Calibri"/>
                <a:ea typeface="Calibri"/>
                <a:cs typeface="Calibri"/>
                <a:sym typeface="Calibri"/>
              </a:rPr>
              <a:t>Why Standard RNNs Fail on Long Sequences</a:t>
            </a:r>
            <a:endParaRPr b="0" i="0" sz="987" u="none" cap="none" strike="noStrike">
              <a:solidFill>
                <a:schemeClr val="dk1"/>
              </a:solidFill>
              <a:latin typeface="Calibri"/>
              <a:ea typeface="Calibri"/>
              <a:cs typeface="Calibri"/>
              <a:sym typeface="Calibri"/>
            </a:endParaRPr>
          </a:p>
        </p:txBody>
      </p:sp>
      <p:sp>
        <p:nvSpPr>
          <p:cNvPr id="44" name="Google Shape;44;p5"/>
          <p:cNvSpPr/>
          <p:nvPr/>
        </p:nvSpPr>
        <p:spPr>
          <a:xfrm>
            <a:off x="742950" y="980480"/>
            <a:ext cx="3650400" cy="135600"/>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Standard RNN</a:t>
            </a:r>
            <a:endParaRPr b="0" i="0" sz="683" u="none" cap="none" strike="noStrike">
              <a:solidFill>
                <a:schemeClr val="dk1"/>
              </a:solidFill>
              <a:latin typeface="Calibri"/>
              <a:ea typeface="Calibri"/>
              <a:cs typeface="Calibri"/>
              <a:sym typeface="Calibri"/>
            </a:endParaRPr>
          </a:p>
        </p:txBody>
      </p:sp>
      <p:sp>
        <p:nvSpPr>
          <p:cNvPr id="45" name="Google Shape;45;p5"/>
          <p:cNvSpPr/>
          <p:nvPr/>
        </p:nvSpPr>
        <p:spPr>
          <a:xfrm>
            <a:off x="742950" y="1173361"/>
            <a:ext cx="3650400" cy="297000"/>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Simple architecture where the hidden state is the only memory. Information flows sequentially from one time step to the next.</a:t>
            </a:r>
            <a:endParaRPr b="0" i="0" sz="674" u="none" cap="none" strike="noStrike">
              <a:solidFill>
                <a:schemeClr val="dk1"/>
              </a:solidFill>
              <a:latin typeface="Calibri"/>
              <a:ea typeface="Calibri"/>
              <a:cs typeface="Calibri"/>
              <a:sym typeface="Calibri"/>
            </a:endParaRPr>
          </a:p>
        </p:txBody>
      </p:sp>
      <p:sp>
        <p:nvSpPr>
          <p:cNvPr id="46" name="Google Shape;46;p5"/>
          <p:cNvSpPr/>
          <p:nvPr/>
        </p:nvSpPr>
        <p:spPr>
          <a:xfrm>
            <a:off x="742950" y="1649090"/>
            <a:ext cx="3650400" cy="135600"/>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The Problem: BPTT</a:t>
            </a:r>
            <a:endParaRPr b="0" i="0" sz="683" u="none" cap="none" strike="noStrike">
              <a:solidFill>
                <a:schemeClr val="dk1"/>
              </a:solidFill>
              <a:latin typeface="Calibri"/>
              <a:ea typeface="Calibri"/>
              <a:cs typeface="Calibri"/>
              <a:sym typeface="Calibri"/>
            </a:endParaRPr>
          </a:p>
        </p:txBody>
      </p:sp>
      <p:sp>
        <p:nvSpPr>
          <p:cNvPr id="47" name="Google Shape;47;p5"/>
          <p:cNvSpPr/>
          <p:nvPr/>
        </p:nvSpPr>
        <p:spPr>
          <a:xfrm>
            <a:off x="742950" y="1841971"/>
            <a:ext cx="3650400" cy="297000"/>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Training uses Backpropagation Through Time (BPTT). The same weight matrix is repeatedly multiplied across many time steps.</a:t>
            </a:r>
            <a:endParaRPr b="0" i="0" sz="674" u="none" cap="none" strike="noStrike">
              <a:solidFill>
                <a:schemeClr val="dk1"/>
              </a:solidFill>
              <a:latin typeface="Calibri"/>
              <a:ea typeface="Calibri"/>
              <a:cs typeface="Calibri"/>
              <a:sym typeface="Calibri"/>
            </a:endParaRPr>
          </a:p>
        </p:txBody>
      </p:sp>
      <p:sp>
        <p:nvSpPr>
          <p:cNvPr id="48" name="Google Shape;48;p5"/>
          <p:cNvSpPr/>
          <p:nvPr/>
        </p:nvSpPr>
        <p:spPr>
          <a:xfrm>
            <a:off x="4922044" y="1123355"/>
            <a:ext cx="3650400" cy="135600"/>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Vanishing Gradient</a:t>
            </a:r>
            <a:endParaRPr b="0" i="0" sz="683" u="none" cap="none" strike="noStrike">
              <a:solidFill>
                <a:schemeClr val="dk1"/>
              </a:solidFill>
              <a:latin typeface="Calibri"/>
              <a:ea typeface="Calibri"/>
              <a:cs typeface="Calibri"/>
              <a:sym typeface="Calibri"/>
            </a:endParaRPr>
          </a:p>
        </p:txBody>
      </p:sp>
      <p:sp>
        <p:nvSpPr>
          <p:cNvPr id="49" name="Google Shape;49;p5"/>
          <p:cNvSpPr/>
          <p:nvPr/>
        </p:nvSpPr>
        <p:spPr>
          <a:xfrm>
            <a:off x="4922044" y="1316236"/>
            <a:ext cx="3650400" cy="297000"/>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Gradients (signals for learning) </a:t>
            </a:r>
            <a:r>
              <a:rPr b="1" i="0" lang="en-US" sz="634" u="none" cap="none" strike="noStrike">
                <a:solidFill>
                  <a:srgbClr val="FF4040"/>
                </a:solidFill>
                <a:latin typeface="Calibri"/>
                <a:ea typeface="Calibri"/>
                <a:cs typeface="Calibri"/>
                <a:sym typeface="Calibri"/>
              </a:rPr>
              <a:t>shrink exponentially</a:t>
            </a:r>
            <a:r>
              <a:rPr b="0" i="0" lang="en-US" sz="674" u="none" cap="none" strike="noStrike">
                <a:solidFill>
                  <a:srgbClr val="333333"/>
                </a:solidFill>
                <a:latin typeface="Calibri"/>
                <a:ea typeface="Calibri"/>
                <a:cs typeface="Calibri"/>
                <a:sym typeface="Calibri"/>
              </a:rPr>
              <a:t> over many time steps, making it impossible to learn long-term dependencies.</a:t>
            </a:r>
            <a:endParaRPr b="0" i="0" sz="674" u="none" cap="none" strike="noStrike">
              <a:solidFill>
                <a:schemeClr val="dk1"/>
              </a:solidFill>
              <a:latin typeface="Calibri"/>
              <a:ea typeface="Calibri"/>
              <a:cs typeface="Calibri"/>
              <a:sym typeface="Calibri"/>
            </a:endParaRPr>
          </a:p>
        </p:txBody>
      </p:sp>
      <p:sp>
        <p:nvSpPr>
          <p:cNvPr id="50" name="Google Shape;50;p5"/>
          <p:cNvSpPr/>
          <p:nvPr/>
        </p:nvSpPr>
        <p:spPr>
          <a:xfrm>
            <a:off x="4750594" y="1791965"/>
            <a:ext cx="3822000" cy="938700"/>
          </a:xfrm>
          <a:prstGeom prst="rect">
            <a:avLst/>
          </a:prstGeom>
          <a:solidFill>
            <a:srgbClr val="FF4040">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4750594" y="1791965"/>
            <a:ext cx="28500" cy="938700"/>
          </a:xfrm>
          <a:prstGeom prst="rect">
            <a:avLst/>
          </a:prstGeom>
          <a:solidFill>
            <a:srgbClr val="FF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4893469" y="1934840"/>
            <a:ext cx="3536100" cy="135600"/>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F4040"/>
              </a:buClr>
              <a:buSzPts val="683"/>
              <a:buFont typeface="Calibri"/>
              <a:buNone/>
            </a:pPr>
            <a:r>
              <a:rPr b="1" i="0" lang="en-US" sz="683" u="none" cap="none" strike="noStrike">
                <a:solidFill>
                  <a:srgbClr val="FF4040"/>
                </a:solidFill>
                <a:latin typeface="Calibri"/>
                <a:ea typeface="Calibri"/>
                <a:cs typeface="Calibri"/>
                <a:sym typeface="Calibri"/>
              </a:rPr>
              <a:t>Consequence</a:t>
            </a:r>
            <a:endParaRPr b="0" i="0" sz="683" u="none" cap="none" strike="noStrike">
              <a:solidFill>
                <a:schemeClr val="dk1"/>
              </a:solidFill>
              <a:latin typeface="Calibri"/>
              <a:ea typeface="Calibri"/>
              <a:cs typeface="Calibri"/>
              <a:sym typeface="Calibri"/>
            </a:endParaRPr>
          </a:p>
        </p:txBody>
      </p:sp>
      <p:sp>
        <p:nvSpPr>
          <p:cNvPr id="53" name="Google Shape;53;p5"/>
          <p:cNvSpPr/>
          <p:nvPr/>
        </p:nvSpPr>
        <p:spPr>
          <a:xfrm>
            <a:off x="4893469" y="2142009"/>
            <a:ext cx="3536100" cy="445800"/>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The network forgets information from the beginning of a long sentence. It cannot learn </a:t>
            </a:r>
            <a:r>
              <a:rPr b="1" i="0" lang="en-US" sz="634" u="none" cap="none" strike="noStrike">
                <a:solidFill>
                  <a:srgbClr val="FF4040"/>
                </a:solidFill>
                <a:latin typeface="Calibri"/>
                <a:ea typeface="Calibri"/>
                <a:cs typeface="Calibri"/>
                <a:sym typeface="Calibri"/>
              </a:rPr>
              <a:t>long-term dependencies</a:t>
            </a:r>
            <a:r>
              <a:rPr b="0" i="0" lang="en-US" sz="674" u="none" cap="none" strike="noStrike">
                <a:solidFill>
                  <a:srgbClr val="333333"/>
                </a:solidFill>
                <a:latin typeface="Calibri"/>
                <a:ea typeface="Calibri"/>
                <a:cs typeface="Calibri"/>
                <a:sym typeface="Calibri"/>
              </a:rPr>
              <a:t>, making it unsuitable for sentiment analysis where context matters.</a:t>
            </a:r>
            <a:endParaRPr b="0" i="0" sz="674"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preencoded.png" id="59" name="Google Shape;59;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0" name="Google Shape;60;p6"/>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Experimental Setup and Dataset</a:t>
            </a:r>
            <a:endParaRPr b="0" i="0" sz="987" u="none" cap="none" strike="noStrike">
              <a:solidFill>
                <a:schemeClr val="dk1"/>
              </a:solidFill>
              <a:latin typeface="Calibri"/>
              <a:ea typeface="Calibri"/>
              <a:cs typeface="Calibri"/>
              <a:sym typeface="Calibri"/>
            </a:endParaRPr>
          </a:p>
        </p:txBody>
      </p:sp>
      <p:sp>
        <p:nvSpPr>
          <p:cNvPr id="61" name="Google Shape;61;p6"/>
          <p:cNvSpPr/>
          <p:nvPr/>
        </p:nvSpPr>
        <p:spPr>
          <a:xfrm>
            <a:off x="571500" y="909042"/>
            <a:ext cx="3821906" cy="221456"/>
          </a:xfrm>
          <a:prstGeom prst="rect">
            <a:avLst/>
          </a:prstGeom>
          <a:noFill/>
          <a:ln>
            <a:noFill/>
          </a:ln>
        </p:spPr>
        <p:txBody>
          <a:bodyPr anchorCtr="0" anchor="t" bIns="85075"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Dataset Overview</a:t>
            </a:r>
            <a:endParaRPr b="0" i="0" sz="683" u="none" cap="none" strike="noStrike">
              <a:solidFill>
                <a:schemeClr val="dk1"/>
              </a:solidFill>
              <a:latin typeface="Calibri"/>
              <a:ea typeface="Calibri"/>
              <a:cs typeface="Calibri"/>
              <a:sym typeface="Calibri"/>
            </a:endParaRPr>
          </a:p>
        </p:txBody>
      </p:sp>
      <p:sp>
        <p:nvSpPr>
          <p:cNvPr id="62" name="Google Shape;62;p6"/>
          <p:cNvSpPr/>
          <p:nvPr/>
        </p:nvSpPr>
        <p:spPr>
          <a:xfrm>
            <a:off x="571500" y="1237655"/>
            <a:ext cx="3821906" cy="139303"/>
          </a:xfrm>
          <a:prstGeom prst="rect">
            <a:avLst/>
          </a:prstGeom>
          <a:noFill/>
          <a:ln>
            <a:noFill/>
          </a:ln>
        </p:spPr>
        <p:txBody>
          <a:bodyPr anchorCtr="0" anchor="t" bIns="0" lIns="0" spcFirstLastPara="1" rIns="0" wrap="square" tIns="0">
            <a:noAutofit/>
          </a:bodyPr>
          <a:lstStyle/>
          <a:p>
            <a:pPr indent="0" lvl="0" marL="0" marR="0" rtl="0" algn="l">
              <a:lnSpc>
                <a:spcPct val="163204"/>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Name:</a:t>
            </a:r>
            <a:r>
              <a:rPr b="0" i="0" lang="en-US" sz="674" u="none" cap="none" strike="noStrike">
                <a:solidFill>
                  <a:srgbClr val="333333"/>
                </a:solidFill>
                <a:latin typeface="Calibri"/>
                <a:ea typeface="Calibri"/>
                <a:cs typeface="Calibri"/>
                <a:sym typeface="Calibri"/>
              </a:rPr>
              <a:t> Sentiment140 Dataset</a:t>
            </a:r>
            <a:endParaRPr b="0" i="0" sz="634" u="none" cap="none" strike="noStrike">
              <a:solidFill>
                <a:schemeClr val="dk1"/>
              </a:solidFill>
              <a:latin typeface="Calibri"/>
              <a:ea typeface="Calibri"/>
              <a:cs typeface="Calibri"/>
              <a:sym typeface="Calibri"/>
            </a:endParaRPr>
          </a:p>
        </p:txBody>
      </p:sp>
      <p:sp>
        <p:nvSpPr>
          <p:cNvPr id="63" name="Google Shape;63;p6"/>
          <p:cNvSpPr/>
          <p:nvPr/>
        </p:nvSpPr>
        <p:spPr>
          <a:xfrm>
            <a:off x="571500" y="1462683"/>
            <a:ext cx="3821906" cy="139303"/>
          </a:xfrm>
          <a:prstGeom prst="rect">
            <a:avLst/>
          </a:prstGeom>
          <a:noFill/>
          <a:ln>
            <a:noFill/>
          </a:ln>
        </p:spPr>
        <p:txBody>
          <a:bodyPr anchorCtr="0" anchor="t" bIns="0" lIns="0" spcFirstLastPara="1" rIns="0" wrap="square" tIns="0">
            <a:noAutofit/>
          </a:bodyPr>
          <a:lstStyle/>
          <a:p>
            <a:pPr indent="0" lvl="0" marL="0" marR="0" rtl="0" algn="l">
              <a:lnSpc>
                <a:spcPct val="163204"/>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Size:</a:t>
            </a:r>
            <a:r>
              <a:rPr b="0" i="0" lang="en-US" sz="674" u="none" cap="none" strike="noStrike">
                <a:solidFill>
                  <a:srgbClr val="333333"/>
                </a:solidFill>
                <a:latin typeface="Calibri"/>
                <a:ea typeface="Calibri"/>
                <a:cs typeface="Calibri"/>
                <a:sym typeface="Calibri"/>
              </a:rPr>
              <a:t> 1.6 million tweets</a:t>
            </a:r>
            <a:endParaRPr b="0" i="0" sz="634" u="none" cap="none" strike="noStrike">
              <a:solidFill>
                <a:schemeClr val="dk1"/>
              </a:solidFill>
              <a:latin typeface="Calibri"/>
              <a:ea typeface="Calibri"/>
              <a:cs typeface="Calibri"/>
              <a:sym typeface="Calibri"/>
            </a:endParaRPr>
          </a:p>
        </p:txBody>
      </p:sp>
      <p:sp>
        <p:nvSpPr>
          <p:cNvPr id="64" name="Google Shape;64;p6"/>
          <p:cNvSpPr/>
          <p:nvPr/>
        </p:nvSpPr>
        <p:spPr>
          <a:xfrm>
            <a:off x="571500" y="1687711"/>
            <a:ext cx="3821906" cy="139303"/>
          </a:xfrm>
          <a:prstGeom prst="rect">
            <a:avLst/>
          </a:prstGeom>
          <a:noFill/>
          <a:ln>
            <a:noFill/>
          </a:ln>
        </p:spPr>
        <p:txBody>
          <a:bodyPr anchorCtr="0" anchor="t" bIns="0" lIns="0" spcFirstLastPara="1" rIns="0" wrap="square" tIns="0">
            <a:noAutofit/>
          </a:bodyPr>
          <a:lstStyle/>
          <a:p>
            <a:pPr indent="0" lvl="0" marL="0" marR="0" rtl="0" algn="l">
              <a:lnSpc>
                <a:spcPct val="163204"/>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Collection Period:</a:t>
            </a:r>
            <a:r>
              <a:rPr b="0" i="0" lang="en-US" sz="674" u="none" cap="none" strike="noStrike">
                <a:solidFill>
                  <a:srgbClr val="333333"/>
                </a:solidFill>
                <a:latin typeface="Calibri"/>
                <a:ea typeface="Calibri"/>
                <a:cs typeface="Calibri"/>
                <a:sym typeface="Calibri"/>
              </a:rPr>
              <a:t> 2009-2010</a:t>
            </a:r>
            <a:endParaRPr b="0" i="0" sz="634" u="none" cap="none" strike="noStrike">
              <a:solidFill>
                <a:schemeClr val="dk1"/>
              </a:solidFill>
              <a:latin typeface="Calibri"/>
              <a:ea typeface="Calibri"/>
              <a:cs typeface="Calibri"/>
              <a:sym typeface="Calibri"/>
            </a:endParaRPr>
          </a:p>
        </p:txBody>
      </p:sp>
      <p:sp>
        <p:nvSpPr>
          <p:cNvPr id="65" name="Google Shape;65;p6"/>
          <p:cNvSpPr/>
          <p:nvPr/>
        </p:nvSpPr>
        <p:spPr>
          <a:xfrm>
            <a:off x="571500" y="1912739"/>
            <a:ext cx="3821906" cy="139303"/>
          </a:xfrm>
          <a:prstGeom prst="rect">
            <a:avLst/>
          </a:prstGeom>
          <a:noFill/>
          <a:ln>
            <a:noFill/>
          </a:ln>
        </p:spPr>
        <p:txBody>
          <a:bodyPr anchorCtr="0" anchor="t" bIns="0" lIns="0" spcFirstLastPara="1" rIns="0" wrap="square" tIns="0">
            <a:noAutofit/>
          </a:bodyPr>
          <a:lstStyle/>
          <a:p>
            <a:pPr indent="0" lvl="0" marL="0" marR="0" rtl="0" algn="l">
              <a:lnSpc>
                <a:spcPct val="163204"/>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Labeling Method:</a:t>
            </a:r>
            <a:r>
              <a:rPr b="0" i="0" lang="en-US" sz="674" u="none" cap="none" strike="noStrike">
                <a:solidFill>
                  <a:srgbClr val="333333"/>
                </a:solidFill>
                <a:latin typeface="Calibri"/>
                <a:ea typeface="Calibri"/>
                <a:cs typeface="Calibri"/>
                <a:sym typeface="Calibri"/>
              </a:rPr>
              <a:t> Distant Supervision (emoticons)</a:t>
            </a:r>
            <a:endParaRPr b="0" i="0" sz="634" u="none" cap="none" strike="noStrike">
              <a:solidFill>
                <a:schemeClr val="dk1"/>
              </a:solidFill>
              <a:latin typeface="Calibri"/>
              <a:ea typeface="Calibri"/>
              <a:cs typeface="Calibri"/>
              <a:sym typeface="Calibri"/>
            </a:endParaRPr>
          </a:p>
        </p:txBody>
      </p:sp>
      <p:sp>
        <p:nvSpPr>
          <p:cNvPr id="66" name="Google Shape;66;p6"/>
          <p:cNvSpPr/>
          <p:nvPr/>
        </p:nvSpPr>
        <p:spPr>
          <a:xfrm>
            <a:off x="571500" y="2137767"/>
            <a:ext cx="3821906" cy="139303"/>
          </a:xfrm>
          <a:prstGeom prst="rect">
            <a:avLst/>
          </a:prstGeom>
          <a:noFill/>
          <a:ln>
            <a:noFill/>
          </a:ln>
        </p:spPr>
        <p:txBody>
          <a:bodyPr anchorCtr="0" anchor="t" bIns="0" lIns="0" spcFirstLastPara="1" rIns="0" wrap="square" tIns="0">
            <a:noAutofit/>
          </a:bodyPr>
          <a:lstStyle/>
          <a:p>
            <a:pPr indent="0" lvl="0" marL="0" marR="0" rtl="0" algn="l">
              <a:lnSpc>
                <a:spcPct val="163204"/>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Classes:</a:t>
            </a:r>
            <a:r>
              <a:rPr b="0" i="0" lang="en-US" sz="674" u="none" cap="none" strike="noStrike">
                <a:solidFill>
                  <a:srgbClr val="333333"/>
                </a:solidFill>
                <a:latin typeface="Calibri"/>
                <a:ea typeface="Calibri"/>
                <a:cs typeface="Calibri"/>
                <a:sym typeface="Calibri"/>
              </a:rPr>
              <a:t> Balanced (800K Positive, 800K Negative)</a:t>
            </a:r>
            <a:endParaRPr b="0" i="0" sz="634" u="none" cap="none" strike="noStrike">
              <a:solidFill>
                <a:schemeClr val="dk1"/>
              </a:solidFill>
              <a:latin typeface="Calibri"/>
              <a:ea typeface="Calibri"/>
              <a:cs typeface="Calibri"/>
              <a:sym typeface="Calibri"/>
            </a:endParaRPr>
          </a:p>
        </p:txBody>
      </p:sp>
      <p:sp>
        <p:nvSpPr>
          <p:cNvPr id="67" name="Google Shape;67;p6"/>
          <p:cNvSpPr/>
          <p:nvPr/>
        </p:nvSpPr>
        <p:spPr>
          <a:xfrm>
            <a:off x="4750594" y="909042"/>
            <a:ext cx="3821906" cy="221456"/>
          </a:xfrm>
          <a:prstGeom prst="rect">
            <a:avLst/>
          </a:prstGeom>
          <a:noFill/>
          <a:ln>
            <a:noFill/>
          </a:ln>
        </p:spPr>
        <p:txBody>
          <a:bodyPr anchorCtr="0" anchor="t" bIns="85075"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Preprocessing Pipeline</a:t>
            </a:r>
            <a:endParaRPr b="0" i="0" sz="683" u="none" cap="none" strike="noStrike">
              <a:solidFill>
                <a:schemeClr val="dk1"/>
              </a:solidFill>
              <a:latin typeface="Calibri"/>
              <a:ea typeface="Calibri"/>
              <a:cs typeface="Calibri"/>
              <a:sym typeface="Calibri"/>
            </a:endParaRPr>
          </a:p>
        </p:txBody>
      </p:sp>
      <p:sp>
        <p:nvSpPr>
          <p:cNvPr id="68" name="Google Shape;68;p6"/>
          <p:cNvSpPr/>
          <p:nvPr/>
        </p:nvSpPr>
        <p:spPr>
          <a:xfrm>
            <a:off x="4750594" y="1237655"/>
            <a:ext cx="214313"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44CC"/>
              </a:buClr>
              <a:buSzPts val="784"/>
              <a:buFont typeface="Calibri"/>
              <a:buNone/>
            </a:pPr>
            <a:r>
              <a:rPr b="1" i="0" lang="en-US" sz="784" u="none" cap="none" strike="noStrike">
                <a:solidFill>
                  <a:srgbClr val="0044CC"/>
                </a:solidFill>
                <a:latin typeface="Calibri"/>
                <a:ea typeface="Calibri"/>
                <a:cs typeface="Calibri"/>
                <a:sym typeface="Calibri"/>
              </a:rPr>
              <a:t>1</a:t>
            </a:r>
            <a:endParaRPr b="0" i="0" sz="784" u="none" cap="none" strike="noStrike">
              <a:solidFill>
                <a:schemeClr val="dk1"/>
              </a:solidFill>
              <a:latin typeface="Calibri"/>
              <a:ea typeface="Calibri"/>
              <a:cs typeface="Calibri"/>
              <a:sym typeface="Calibri"/>
            </a:endParaRPr>
          </a:p>
        </p:txBody>
      </p:sp>
      <p:sp>
        <p:nvSpPr>
          <p:cNvPr id="69" name="Google Shape;69;p6"/>
          <p:cNvSpPr/>
          <p:nvPr/>
        </p:nvSpPr>
        <p:spPr>
          <a:xfrm>
            <a:off x="5072063" y="1237655"/>
            <a:ext cx="350043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Cleaning</a:t>
            </a:r>
            <a:endParaRPr b="0" i="0" sz="634" u="none" cap="none" strike="noStrike">
              <a:solidFill>
                <a:schemeClr val="dk1"/>
              </a:solidFill>
              <a:latin typeface="Calibri"/>
              <a:ea typeface="Calibri"/>
              <a:cs typeface="Calibri"/>
              <a:sym typeface="Calibri"/>
            </a:endParaRPr>
          </a:p>
        </p:txBody>
      </p:sp>
      <p:sp>
        <p:nvSpPr>
          <p:cNvPr id="70" name="Google Shape;70;p6"/>
          <p:cNvSpPr/>
          <p:nvPr/>
        </p:nvSpPr>
        <p:spPr>
          <a:xfrm>
            <a:off x="5072063" y="1393031"/>
            <a:ext cx="3500438" cy="128588"/>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666666"/>
              </a:buClr>
              <a:buSzPts val="621"/>
              <a:buFont typeface="Calibri"/>
              <a:buNone/>
            </a:pPr>
            <a:r>
              <a:rPr b="0" i="0" lang="en-US" sz="621" u="none" cap="none" strike="noStrike">
                <a:solidFill>
                  <a:srgbClr val="666666"/>
                </a:solidFill>
                <a:latin typeface="Calibri"/>
                <a:ea typeface="Calibri"/>
                <a:cs typeface="Calibri"/>
                <a:sym typeface="Calibri"/>
              </a:rPr>
              <a:t>Remove URLs, mentions, non-alphanumeric characters. Convert to lowercase.</a:t>
            </a:r>
            <a:endParaRPr b="0" i="0" sz="621" u="none" cap="none" strike="noStrike">
              <a:solidFill>
                <a:schemeClr val="dk1"/>
              </a:solidFill>
              <a:latin typeface="Calibri"/>
              <a:ea typeface="Calibri"/>
              <a:cs typeface="Calibri"/>
              <a:sym typeface="Calibri"/>
            </a:endParaRPr>
          </a:p>
        </p:txBody>
      </p:sp>
      <p:sp>
        <p:nvSpPr>
          <p:cNvPr id="71" name="Google Shape;71;p6"/>
          <p:cNvSpPr/>
          <p:nvPr/>
        </p:nvSpPr>
        <p:spPr>
          <a:xfrm>
            <a:off x="4750594" y="1607344"/>
            <a:ext cx="214313"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44CC"/>
              </a:buClr>
              <a:buSzPts val="784"/>
              <a:buFont typeface="Calibri"/>
              <a:buNone/>
            </a:pPr>
            <a:r>
              <a:rPr b="1" i="0" lang="en-US" sz="784" u="none" cap="none" strike="noStrike">
                <a:solidFill>
                  <a:srgbClr val="0044CC"/>
                </a:solidFill>
                <a:latin typeface="Calibri"/>
                <a:ea typeface="Calibri"/>
                <a:cs typeface="Calibri"/>
                <a:sym typeface="Calibri"/>
              </a:rPr>
              <a:t>2</a:t>
            </a:r>
            <a:endParaRPr b="0" i="0" sz="784" u="none" cap="none" strike="noStrike">
              <a:solidFill>
                <a:schemeClr val="dk1"/>
              </a:solidFill>
              <a:latin typeface="Calibri"/>
              <a:ea typeface="Calibri"/>
              <a:cs typeface="Calibri"/>
              <a:sym typeface="Calibri"/>
            </a:endParaRPr>
          </a:p>
        </p:txBody>
      </p:sp>
      <p:sp>
        <p:nvSpPr>
          <p:cNvPr id="72" name="Google Shape;72;p6"/>
          <p:cNvSpPr/>
          <p:nvPr/>
        </p:nvSpPr>
        <p:spPr>
          <a:xfrm>
            <a:off x="5072063" y="1607344"/>
            <a:ext cx="350043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Tokenization &amp; Embedding</a:t>
            </a:r>
            <a:endParaRPr b="0" i="0" sz="634" u="none" cap="none" strike="noStrike">
              <a:solidFill>
                <a:schemeClr val="dk1"/>
              </a:solidFill>
              <a:latin typeface="Calibri"/>
              <a:ea typeface="Calibri"/>
              <a:cs typeface="Calibri"/>
              <a:sym typeface="Calibri"/>
            </a:endParaRPr>
          </a:p>
        </p:txBody>
      </p:sp>
      <p:sp>
        <p:nvSpPr>
          <p:cNvPr id="73" name="Google Shape;73;p6"/>
          <p:cNvSpPr/>
          <p:nvPr/>
        </p:nvSpPr>
        <p:spPr>
          <a:xfrm>
            <a:off x="5072063" y="1762720"/>
            <a:ext cx="3500438" cy="128588"/>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666666"/>
              </a:buClr>
              <a:buSzPts val="621"/>
              <a:buFont typeface="Calibri"/>
              <a:buNone/>
            </a:pPr>
            <a:r>
              <a:rPr b="0" i="0" lang="en-US" sz="621" u="none" cap="none" strike="noStrike">
                <a:solidFill>
                  <a:srgbClr val="666666"/>
                </a:solidFill>
                <a:latin typeface="Calibri"/>
                <a:ea typeface="Calibri"/>
                <a:cs typeface="Calibri"/>
                <a:sym typeface="Calibri"/>
              </a:rPr>
              <a:t>Map words to integers. Convert to 128-dim dense vectors.</a:t>
            </a:r>
            <a:endParaRPr b="0" i="0" sz="621" u="none" cap="none" strike="noStrike">
              <a:solidFill>
                <a:schemeClr val="dk1"/>
              </a:solidFill>
              <a:latin typeface="Calibri"/>
              <a:ea typeface="Calibri"/>
              <a:cs typeface="Calibri"/>
              <a:sym typeface="Calibri"/>
            </a:endParaRPr>
          </a:p>
        </p:txBody>
      </p:sp>
      <p:sp>
        <p:nvSpPr>
          <p:cNvPr id="74" name="Google Shape;74;p6"/>
          <p:cNvSpPr/>
          <p:nvPr/>
        </p:nvSpPr>
        <p:spPr>
          <a:xfrm>
            <a:off x="4750594" y="1977033"/>
            <a:ext cx="214313"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44CC"/>
              </a:buClr>
              <a:buSzPts val="784"/>
              <a:buFont typeface="Calibri"/>
              <a:buNone/>
            </a:pPr>
            <a:r>
              <a:rPr b="1" i="0" lang="en-US" sz="784" u="none" cap="none" strike="noStrike">
                <a:solidFill>
                  <a:srgbClr val="0044CC"/>
                </a:solidFill>
                <a:latin typeface="Calibri"/>
                <a:ea typeface="Calibri"/>
                <a:cs typeface="Calibri"/>
                <a:sym typeface="Calibri"/>
              </a:rPr>
              <a:t>3</a:t>
            </a:r>
            <a:endParaRPr b="0" i="0" sz="784" u="none" cap="none" strike="noStrike">
              <a:solidFill>
                <a:schemeClr val="dk1"/>
              </a:solidFill>
              <a:latin typeface="Calibri"/>
              <a:ea typeface="Calibri"/>
              <a:cs typeface="Calibri"/>
              <a:sym typeface="Calibri"/>
            </a:endParaRPr>
          </a:p>
        </p:txBody>
      </p:sp>
      <p:sp>
        <p:nvSpPr>
          <p:cNvPr id="75" name="Google Shape;75;p6"/>
          <p:cNvSpPr/>
          <p:nvPr/>
        </p:nvSpPr>
        <p:spPr>
          <a:xfrm>
            <a:off x="5072063" y="1977033"/>
            <a:ext cx="350043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Padding</a:t>
            </a:r>
            <a:endParaRPr b="0" i="0" sz="634" u="none" cap="none" strike="noStrike">
              <a:solidFill>
                <a:schemeClr val="dk1"/>
              </a:solidFill>
              <a:latin typeface="Calibri"/>
              <a:ea typeface="Calibri"/>
              <a:cs typeface="Calibri"/>
              <a:sym typeface="Calibri"/>
            </a:endParaRPr>
          </a:p>
        </p:txBody>
      </p:sp>
      <p:sp>
        <p:nvSpPr>
          <p:cNvPr id="76" name="Google Shape;76;p6"/>
          <p:cNvSpPr/>
          <p:nvPr/>
        </p:nvSpPr>
        <p:spPr>
          <a:xfrm>
            <a:off x="5072063" y="2132409"/>
            <a:ext cx="3500438" cy="128588"/>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666666"/>
              </a:buClr>
              <a:buSzPts val="621"/>
              <a:buFont typeface="Calibri"/>
              <a:buNone/>
            </a:pPr>
            <a:r>
              <a:rPr b="0" i="0" lang="en-US" sz="621" u="none" cap="none" strike="noStrike">
                <a:solidFill>
                  <a:srgbClr val="666666"/>
                </a:solidFill>
                <a:latin typeface="Calibri"/>
                <a:ea typeface="Calibri"/>
                <a:cs typeface="Calibri"/>
                <a:sym typeface="Calibri"/>
              </a:rPr>
              <a:t>Pad/truncate sequences to max length of 30 tokens.</a:t>
            </a:r>
            <a:endParaRPr b="0" i="0" sz="621" u="none" cap="none" strike="noStrike">
              <a:solidFill>
                <a:schemeClr val="dk1"/>
              </a:solidFill>
              <a:latin typeface="Calibri"/>
              <a:ea typeface="Calibri"/>
              <a:cs typeface="Calibri"/>
              <a:sym typeface="Calibri"/>
            </a:endParaRPr>
          </a:p>
        </p:txBody>
      </p:sp>
      <p:sp>
        <p:nvSpPr>
          <p:cNvPr id="77" name="Google Shape;77;p6"/>
          <p:cNvSpPr/>
          <p:nvPr/>
        </p:nvSpPr>
        <p:spPr>
          <a:xfrm>
            <a:off x="4750594" y="2346722"/>
            <a:ext cx="214313" cy="15537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0044CC"/>
              </a:buClr>
              <a:buSzPts val="784"/>
              <a:buFont typeface="Calibri"/>
              <a:buNone/>
            </a:pPr>
            <a:r>
              <a:rPr b="1" i="0" lang="en-US" sz="784" u="none" cap="none" strike="noStrike">
                <a:solidFill>
                  <a:srgbClr val="0044CC"/>
                </a:solidFill>
                <a:latin typeface="Calibri"/>
                <a:ea typeface="Calibri"/>
                <a:cs typeface="Calibri"/>
                <a:sym typeface="Calibri"/>
              </a:rPr>
              <a:t>4</a:t>
            </a:r>
            <a:endParaRPr b="0" i="0" sz="784" u="none" cap="none" strike="noStrike">
              <a:solidFill>
                <a:schemeClr val="dk1"/>
              </a:solidFill>
              <a:latin typeface="Calibri"/>
              <a:ea typeface="Calibri"/>
              <a:cs typeface="Calibri"/>
              <a:sym typeface="Calibri"/>
            </a:endParaRPr>
          </a:p>
        </p:txBody>
      </p:sp>
      <p:sp>
        <p:nvSpPr>
          <p:cNvPr id="78" name="Google Shape;78;p6"/>
          <p:cNvSpPr/>
          <p:nvPr/>
        </p:nvSpPr>
        <p:spPr>
          <a:xfrm>
            <a:off x="5072063" y="2346722"/>
            <a:ext cx="350043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Data Splitting</a:t>
            </a:r>
            <a:endParaRPr b="0" i="0" sz="634" u="none" cap="none" strike="noStrike">
              <a:solidFill>
                <a:schemeClr val="dk1"/>
              </a:solidFill>
              <a:latin typeface="Calibri"/>
              <a:ea typeface="Calibri"/>
              <a:cs typeface="Calibri"/>
              <a:sym typeface="Calibri"/>
            </a:endParaRPr>
          </a:p>
        </p:txBody>
      </p:sp>
      <p:sp>
        <p:nvSpPr>
          <p:cNvPr id="79" name="Google Shape;79;p6"/>
          <p:cNvSpPr/>
          <p:nvPr/>
        </p:nvSpPr>
        <p:spPr>
          <a:xfrm>
            <a:off x="5072063" y="2502098"/>
            <a:ext cx="3500438" cy="128588"/>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666666"/>
              </a:buClr>
              <a:buSzPts val="621"/>
              <a:buFont typeface="Calibri"/>
              <a:buNone/>
            </a:pPr>
            <a:r>
              <a:rPr b="0" i="0" lang="en-US" sz="621" u="none" cap="none" strike="noStrike">
                <a:solidFill>
                  <a:srgbClr val="666666"/>
                </a:solidFill>
                <a:latin typeface="Calibri"/>
                <a:ea typeface="Calibri"/>
                <a:cs typeface="Calibri"/>
                <a:sym typeface="Calibri"/>
              </a:rPr>
              <a:t>Training 80%, Testing 20%, Validation 10% of training.</a:t>
            </a:r>
            <a:endParaRPr b="0" i="0" sz="621" u="none" cap="none" strike="noStrike">
              <a:solidFill>
                <a:schemeClr val="dk1"/>
              </a:solidFill>
              <a:latin typeface="Calibri"/>
              <a:ea typeface="Calibri"/>
              <a:cs typeface="Calibri"/>
              <a:sym typeface="Calibri"/>
            </a:endParaRPr>
          </a:p>
        </p:txBody>
      </p:sp>
      <p:pic>
        <p:nvPicPr>
          <p:cNvPr id="80" name="Google Shape;80;p6" title="canvas-image-1-1766403121502.png"/>
          <p:cNvPicPr preferRelativeResize="0"/>
          <p:nvPr/>
        </p:nvPicPr>
        <p:blipFill>
          <a:blip r:embed="rId4">
            <a:alphaModFix/>
          </a:blip>
          <a:stretch>
            <a:fillRect/>
          </a:stretch>
        </p:blipFill>
        <p:spPr>
          <a:xfrm>
            <a:off x="973675" y="3028950"/>
            <a:ext cx="6117975" cy="2287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descr="preencoded.png" id="86" name="Google Shape;86;p7"/>
          <p:cNvPicPr preferRelativeResize="0"/>
          <p:nvPr/>
        </p:nvPicPr>
        <p:blipFill rotWithShape="1">
          <a:blip r:embed="rId3">
            <a:alphaModFix/>
          </a:blip>
          <a:srcRect b="0" l="0" r="0" t="0"/>
          <a:stretch/>
        </p:blipFill>
        <p:spPr>
          <a:xfrm>
            <a:off x="0" y="0"/>
            <a:ext cx="9144000" cy="5159350"/>
          </a:xfrm>
          <a:prstGeom prst="rect">
            <a:avLst/>
          </a:prstGeom>
          <a:noFill/>
          <a:ln>
            <a:noFill/>
          </a:ln>
        </p:spPr>
      </p:pic>
      <p:sp>
        <p:nvSpPr>
          <p:cNvPr id="87" name="Google Shape;87;p7"/>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Solving the Memory Problem with Three Gates</a:t>
            </a:r>
            <a:endParaRPr b="0" i="0" sz="987" u="none" cap="none" strike="noStrike">
              <a:solidFill>
                <a:schemeClr val="dk1"/>
              </a:solidFill>
              <a:latin typeface="Calibri"/>
              <a:ea typeface="Calibri"/>
              <a:cs typeface="Calibri"/>
              <a:sym typeface="Calibri"/>
            </a:endParaRPr>
          </a:p>
        </p:txBody>
      </p:sp>
      <p:sp>
        <p:nvSpPr>
          <p:cNvPr id="88" name="Google Shape;88;p7"/>
          <p:cNvSpPr/>
          <p:nvPr/>
        </p:nvSpPr>
        <p:spPr>
          <a:xfrm>
            <a:off x="571500" y="909042"/>
            <a:ext cx="8001000" cy="29713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571500" y="909042"/>
            <a:ext cx="28575" cy="297135"/>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p:nvPr/>
        </p:nvSpPr>
        <p:spPr>
          <a:xfrm>
            <a:off x="571500" y="909042"/>
            <a:ext cx="8001000" cy="297135"/>
          </a:xfrm>
          <a:prstGeom prst="rect">
            <a:avLst/>
          </a:prstGeom>
          <a:noFill/>
          <a:ln>
            <a:noFill/>
          </a:ln>
        </p:spPr>
        <p:txBody>
          <a:bodyPr anchorCtr="0" anchor="t" bIns="0" lIns="170050" spcFirstLastPara="1" rIns="0" wrap="square" tIns="0">
            <a:noAutofit/>
          </a:bodyPr>
          <a:lstStyle/>
          <a:p>
            <a:pPr indent="0" lvl="0" marL="0" marR="0" rtl="0" algn="l">
              <a:lnSpc>
                <a:spcPct val="178041"/>
              </a:lnSpc>
              <a:spcBef>
                <a:spcPts val="0"/>
              </a:spcBef>
              <a:spcAft>
                <a:spcPts val="0"/>
              </a:spcAft>
              <a:buClr>
                <a:srgbClr val="333333"/>
              </a:buClr>
              <a:buSzPts val="634"/>
              <a:buFont typeface="Calibri"/>
              <a:buNone/>
            </a:pPr>
            <a:r>
              <a:rPr b="1" i="0" lang="en-US" sz="634" u="none" cap="none" strike="noStrike">
                <a:solidFill>
                  <a:srgbClr val="333333"/>
                </a:solidFill>
                <a:latin typeface="Calibri"/>
                <a:ea typeface="Calibri"/>
                <a:cs typeface="Calibri"/>
                <a:sym typeface="Calibri"/>
              </a:rPr>
              <a:t>Innovation:</a:t>
            </a:r>
            <a:r>
              <a:rPr b="0" i="0" lang="en-US" sz="674" u="none" cap="none" strike="noStrike">
                <a:solidFill>
                  <a:srgbClr val="333333"/>
                </a:solidFill>
                <a:latin typeface="Calibri"/>
                <a:ea typeface="Calibri"/>
                <a:cs typeface="Calibri"/>
                <a:sym typeface="Calibri"/>
              </a:rPr>
              <a:t> The LSTM introduces a dedicated </a:t>
            </a:r>
            <a:r>
              <a:rPr b="1" i="0" lang="en-US" sz="634" u="none" cap="none" strike="noStrike">
                <a:solidFill>
                  <a:srgbClr val="333333"/>
                </a:solidFill>
                <a:latin typeface="Calibri"/>
                <a:ea typeface="Calibri"/>
                <a:cs typeface="Calibri"/>
                <a:sym typeface="Calibri"/>
              </a:rPr>
              <a:t>Cell State</a:t>
            </a:r>
            <a:r>
              <a:rPr b="0" i="0" lang="en-US" sz="674" u="none" cap="none" strike="noStrike">
                <a:solidFill>
                  <a:srgbClr val="333333"/>
                </a:solidFill>
                <a:latin typeface="Calibri"/>
                <a:ea typeface="Calibri"/>
                <a:cs typeface="Calibri"/>
                <a:sym typeface="Calibri"/>
              </a:rPr>
              <a:t> (the memory highway) that runs through the unit, carrying relevant information across the entire sequence chain with minimal alteration.</a:t>
            </a:r>
            <a:endParaRPr b="0" i="0" sz="634" u="none" cap="none" strike="noStrike">
              <a:solidFill>
                <a:schemeClr val="dk1"/>
              </a:solidFill>
              <a:latin typeface="Calibri"/>
              <a:ea typeface="Calibri"/>
              <a:cs typeface="Calibri"/>
              <a:sym typeface="Calibri"/>
            </a:endParaRPr>
          </a:p>
        </p:txBody>
      </p:sp>
      <p:sp>
        <p:nvSpPr>
          <p:cNvPr id="91" name="Google Shape;91;p7"/>
          <p:cNvSpPr/>
          <p:nvPr/>
        </p:nvSpPr>
        <p:spPr>
          <a:xfrm>
            <a:off x="742950" y="1456209"/>
            <a:ext cx="3739753"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Forget Gate</a:t>
            </a:r>
            <a:endParaRPr b="0" i="0" sz="683" u="none" cap="none" strike="noStrike">
              <a:solidFill>
                <a:schemeClr val="dk1"/>
              </a:solidFill>
              <a:latin typeface="Calibri"/>
              <a:ea typeface="Calibri"/>
              <a:cs typeface="Calibri"/>
              <a:sym typeface="Calibri"/>
            </a:endParaRPr>
          </a:p>
        </p:txBody>
      </p:sp>
      <p:sp>
        <p:nvSpPr>
          <p:cNvPr id="92" name="Google Shape;92;p7"/>
          <p:cNvSpPr/>
          <p:nvPr/>
        </p:nvSpPr>
        <p:spPr>
          <a:xfrm>
            <a:off x="742950" y="1663378"/>
            <a:ext cx="3739753" cy="445703"/>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Decides what information from the previous cell state should be thrown away or kept. Outputs a value between 0 (completely forget) and 1 (completely keep) for each element.</a:t>
            </a:r>
            <a:endParaRPr b="0" i="0" sz="674" u="none" cap="none" strike="noStrike">
              <a:solidFill>
                <a:schemeClr val="dk1"/>
              </a:solidFill>
              <a:latin typeface="Calibri"/>
              <a:ea typeface="Calibri"/>
              <a:cs typeface="Calibri"/>
              <a:sym typeface="Calibri"/>
            </a:endParaRPr>
          </a:p>
        </p:txBody>
      </p:sp>
      <p:sp>
        <p:nvSpPr>
          <p:cNvPr id="93" name="Google Shape;93;p7"/>
          <p:cNvSpPr/>
          <p:nvPr/>
        </p:nvSpPr>
        <p:spPr>
          <a:xfrm>
            <a:off x="4832747" y="1456209"/>
            <a:ext cx="3739753"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Input Gate</a:t>
            </a:r>
            <a:endParaRPr b="0" i="0" sz="683" u="none" cap="none" strike="noStrike">
              <a:solidFill>
                <a:schemeClr val="dk1"/>
              </a:solidFill>
              <a:latin typeface="Calibri"/>
              <a:ea typeface="Calibri"/>
              <a:cs typeface="Calibri"/>
              <a:sym typeface="Calibri"/>
            </a:endParaRPr>
          </a:p>
        </p:txBody>
      </p:sp>
      <p:sp>
        <p:nvSpPr>
          <p:cNvPr id="94" name="Google Shape;94;p7"/>
          <p:cNvSpPr/>
          <p:nvPr/>
        </p:nvSpPr>
        <p:spPr>
          <a:xfrm>
            <a:off x="4832747" y="1663378"/>
            <a:ext cx="3739753" cy="445703"/>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Decides what new information should be stored in the cell state. Combines a sigmoid layer (which values to update) and a tanh layer (candidate values) to update the cell state.</a:t>
            </a:r>
            <a:endParaRPr b="0" i="0" sz="674" u="none" cap="none" strike="noStrike">
              <a:solidFill>
                <a:schemeClr val="dk1"/>
              </a:solidFill>
              <a:latin typeface="Calibri"/>
              <a:ea typeface="Calibri"/>
              <a:cs typeface="Calibri"/>
              <a:sym typeface="Calibri"/>
            </a:endParaRPr>
          </a:p>
        </p:txBody>
      </p:sp>
      <p:sp>
        <p:nvSpPr>
          <p:cNvPr id="95" name="Google Shape;95;p7"/>
          <p:cNvSpPr/>
          <p:nvPr/>
        </p:nvSpPr>
        <p:spPr>
          <a:xfrm>
            <a:off x="742950" y="2287674"/>
            <a:ext cx="3739753"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Output Gate</a:t>
            </a:r>
            <a:endParaRPr b="0" i="0" sz="683" u="none" cap="none" strike="noStrike">
              <a:solidFill>
                <a:schemeClr val="dk1"/>
              </a:solidFill>
              <a:latin typeface="Calibri"/>
              <a:ea typeface="Calibri"/>
              <a:cs typeface="Calibri"/>
              <a:sym typeface="Calibri"/>
            </a:endParaRPr>
          </a:p>
        </p:txBody>
      </p:sp>
      <p:sp>
        <p:nvSpPr>
          <p:cNvPr id="96" name="Google Shape;96;p7"/>
          <p:cNvSpPr/>
          <p:nvPr/>
        </p:nvSpPr>
        <p:spPr>
          <a:xfrm>
            <a:off x="742950" y="2494843"/>
            <a:ext cx="3739753" cy="297135"/>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Determines the value of the next hidden state, which is the information passed to the next unit and used for prediction. Based on a filtered version of the cell state.</a:t>
            </a:r>
            <a:endParaRPr b="0" i="0" sz="674" u="none" cap="none" strike="noStrike">
              <a:solidFill>
                <a:schemeClr val="dk1"/>
              </a:solidFill>
              <a:latin typeface="Calibri"/>
              <a:ea typeface="Calibri"/>
              <a:cs typeface="Calibri"/>
              <a:sym typeface="Calibri"/>
            </a:endParaRPr>
          </a:p>
        </p:txBody>
      </p:sp>
      <p:sp>
        <p:nvSpPr>
          <p:cNvPr id="97" name="Google Shape;97;p7"/>
          <p:cNvSpPr/>
          <p:nvPr/>
        </p:nvSpPr>
        <p:spPr>
          <a:xfrm>
            <a:off x="4832747" y="2287674"/>
            <a:ext cx="3739753"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Cell State</a:t>
            </a:r>
            <a:endParaRPr b="0" i="0" sz="683" u="none" cap="none" strike="noStrike">
              <a:solidFill>
                <a:schemeClr val="dk1"/>
              </a:solidFill>
              <a:latin typeface="Calibri"/>
              <a:ea typeface="Calibri"/>
              <a:cs typeface="Calibri"/>
              <a:sym typeface="Calibri"/>
            </a:endParaRPr>
          </a:p>
        </p:txBody>
      </p:sp>
      <p:sp>
        <p:nvSpPr>
          <p:cNvPr id="98" name="Google Shape;98;p7"/>
          <p:cNvSpPr/>
          <p:nvPr/>
        </p:nvSpPr>
        <p:spPr>
          <a:xfrm>
            <a:off x="4832747" y="2494843"/>
            <a:ext cx="3739753" cy="445703"/>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The core memory structure of the LSTM. Information flows through the cell state, regulated by the three gates, allowing the network to maintain long-term dependencies effectively.</a:t>
            </a:r>
            <a:endParaRPr b="0" i="0" sz="674" u="none" cap="none" strike="noStrike">
              <a:solidFill>
                <a:schemeClr val="dk1"/>
              </a:solidFill>
              <a:latin typeface="Calibri"/>
              <a:ea typeface="Calibri"/>
              <a:cs typeface="Calibri"/>
              <a:sym typeface="Calibri"/>
            </a:endParaRPr>
          </a:p>
        </p:txBody>
      </p:sp>
      <p:sp>
        <p:nvSpPr>
          <p:cNvPr id="99" name="Google Shape;99;p7"/>
          <p:cNvSpPr/>
          <p:nvPr/>
        </p:nvSpPr>
        <p:spPr>
          <a:xfrm>
            <a:off x="571500" y="3297734"/>
            <a:ext cx="8001000" cy="790054"/>
          </a:xfrm>
          <a:prstGeom prst="rect">
            <a:avLst/>
          </a:prstGeom>
          <a:solidFill>
            <a:srgbClr val="0044CC">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571500" y="3297734"/>
            <a:ext cx="28575" cy="790054"/>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714375" y="3440609"/>
            <a:ext cx="7715250"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44CC"/>
              </a:buClr>
              <a:buSzPts val="683"/>
              <a:buFont typeface="Calibri"/>
              <a:buNone/>
            </a:pPr>
            <a:r>
              <a:rPr b="1" i="0" lang="en-US" sz="683" u="none" cap="none" strike="noStrike">
                <a:solidFill>
                  <a:srgbClr val="0044CC"/>
                </a:solidFill>
                <a:latin typeface="Calibri"/>
                <a:ea typeface="Calibri"/>
                <a:cs typeface="Calibri"/>
                <a:sym typeface="Calibri"/>
              </a:rPr>
              <a:t>Key Benefit</a:t>
            </a:r>
            <a:endParaRPr b="0" i="0" sz="683" u="none" cap="none" strike="noStrike">
              <a:solidFill>
                <a:schemeClr val="dk1"/>
              </a:solidFill>
              <a:latin typeface="Calibri"/>
              <a:ea typeface="Calibri"/>
              <a:cs typeface="Calibri"/>
              <a:sym typeface="Calibri"/>
            </a:endParaRPr>
          </a:p>
        </p:txBody>
      </p:sp>
      <p:sp>
        <p:nvSpPr>
          <p:cNvPr id="102" name="Google Shape;102;p7"/>
          <p:cNvSpPr/>
          <p:nvPr/>
        </p:nvSpPr>
        <p:spPr>
          <a:xfrm>
            <a:off x="714375" y="3647777"/>
            <a:ext cx="7715250" cy="297135"/>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By using these three gates to carefully regulate the flow of information, the LSTM can maintain a stable gradient flow during training, successfully addressing the long-term dependency problem and making it a powerful tool for complex sequence tasks like sentiment analysis.</a:t>
            </a:r>
            <a:endParaRPr b="0" i="0" sz="674"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preencoded.png" id="108" name="Google Shape;108;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9" name="Google Shape;109;p8"/>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The Efficient Alternative: GRU Architecture</a:t>
            </a:r>
            <a:endParaRPr b="0" i="0" sz="987" u="none" cap="none" strike="noStrike">
              <a:solidFill>
                <a:schemeClr val="dk1"/>
              </a:solidFill>
              <a:latin typeface="Calibri"/>
              <a:ea typeface="Calibri"/>
              <a:cs typeface="Calibri"/>
              <a:sym typeface="Calibri"/>
            </a:endParaRPr>
          </a:p>
        </p:txBody>
      </p:sp>
      <p:sp>
        <p:nvSpPr>
          <p:cNvPr id="110" name="Google Shape;110;p8"/>
          <p:cNvSpPr/>
          <p:nvPr/>
        </p:nvSpPr>
        <p:spPr>
          <a:xfrm>
            <a:off x="742950" y="980480"/>
            <a:ext cx="3650456"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Update Gate</a:t>
            </a:r>
            <a:endParaRPr b="0" i="0" sz="683" u="none" cap="none" strike="noStrike">
              <a:solidFill>
                <a:schemeClr val="dk1"/>
              </a:solidFill>
              <a:latin typeface="Calibri"/>
              <a:ea typeface="Calibri"/>
              <a:cs typeface="Calibri"/>
              <a:sym typeface="Calibri"/>
            </a:endParaRPr>
          </a:p>
        </p:txBody>
      </p:sp>
      <p:sp>
        <p:nvSpPr>
          <p:cNvPr id="111" name="Google Shape;111;p8"/>
          <p:cNvSpPr/>
          <p:nvPr/>
        </p:nvSpPr>
        <p:spPr>
          <a:xfrm>
            <a:off x="742950" y="1173361"/>
            <a:ext cx="3650456" cy="445703"/>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Combines the functionality of LSTM's forget and input gates into a single mechanism. Controls the mix of old and new information for the hidden state. A high value retains old information; a low value updates with new information.</a:t>
            </a:r>
            <a:endParaRPr b="0" i="0" sz="674" u="none" cap="none" strike="noStrike">
              <a:solidFill>
                <a:schemeClr val="dk1"/>
              </a:solidFill>
              <a:latin typeface="Calibri"/>
              <a:ea typeface="Calibri"/>
              <a:cs typeface="Calibri"/>
              <a:sym typeface="Calibri"/>
            </a:endParaRPr>
          </a:p>
        </p:txBody>
      </p:sp>
      <p:sp>
        <p:nvSpPr>
          <p:cNvPr id="112" name="Google Shape;112;p8"/>
          <p:cNvSpPr/>
          <p:nvPr/>
        </p:nvSpPr>
        <p:spPr>
          <a:xfrm>
            <a:off x="742950" y="1833376"/>
            <a:ext cx="3650456"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Reset Gate</a:t>
            </a:r>
            <a:endParaRPr b="0" i="0" sz="683" u="none" cap="none" strike="noStrike">
              <a:solidFill>
                <a:schemeClr val="dk1"/>
              </a:solidFill>
              <a:latin typeface="Calibri"/>
              <a:ea typeface="Calibri"/>
              <a:cs typeface="Calibri"/>
              <a:sym typeface="Calibri"/>
            </a:endParaRPr>
          </a:p>
        </p:txBody>
      </p:sp>
      <p:sp>
        <p:nvSpPr>
          <p:cNvPr id="113" name="Google Shape;113;p8"/>
          <p:cNvSpPr/>
          <p:nvPr/>
        </p:nvSpPr>
        <p:spPr>
          <a:xfrm>
            <a:off x="742950" y="2026258"/>
            <a:ext cx="3650456" cy="445703"/>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Controls how much of the previous hidden state is relevant to the calculation of the new candidate hidden state. A reset gate value close to zero effectively ignores the past hidden state.</a:t>
            </a:r>
            <a:endParaRPr b="0" i="0" sz="674" u="none" cap="none" strike="noStrike">
              <a:solidFill>
                <a:schemeClr val="dk1"/>
              </a:solidFill>
              <a:latin typeface="Calibri"/>
              <a:ea typeface="Calibri"/>
              <a:cs typeface="Calibri"/>
              <a:sym typeface="Calibri"/>
            </a:endParaRPr>
          </a:p>
        </p:txBody>
      </p:sp>
      <p:sp>
        <p:nvSpPr>
          <p:cNvPr id="114" name="Google Shape;114;p8"/>
          <p:cNvSpPr/>
          <p:nvPr/>
        </p:nvSpPr>
        <p:spPr>
          <a:xfrm>
            <a:off x="571500" y="2686273"/>
            <a:ext cx="3821906" cy="790054"/>
          </a:xfrm>
          <a:prstGeom prst="rect">
            <a:avLst/>
          </a:prstGeom>
          <a:solidFill>
            <a:srgbClr val="0044CC">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571500" y="2686273"/>
            <a:ext cx="28575" cy="790054"/>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714375" y="2829148"/>
            <a:ext cx="3536156"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44CC"/>
              </a:buClr>
              <a:buSzPts val="683"/>
              <a:buFont typeface="Calibri"/>
              <a:buNone/>
            </a:pPr>
            <a:r>
              <a:rPr b="1" i="0" lang="en-US" sz="683" u="none" cap="none" strike="noStrike">
                <a:solidFill>
                  <a:srgbClr val="0044CC"/>
                </a:solidFill>
                <a:latin typeface="Calibri"/>
                <a:ea typeface="Calibri"/>
                <a:cs typeface="Calibri"/>
                <a:sym typeface="Calibri"/>
              </a:rPr>
              <a:t>Architectural Efficiency</a:t>
            </a:r>
            <a:endParaRPr b="0" i="0" sz="683" u="none" cap="none" strike="noStrike">
              <a:solidFill>
                <a:schemeClr val="dk1"/>
              </a:solidFill>
              <a:latin typeface="Calibri"/>
              <a:ea typeface="Calibri"/>
              <a:cs typeface="Calibri"/>
              <a:sym typeface="Calibri"/>
            </a:endParaRPr>
          </a:p>
        </p:txBody>
      </p:sp>
      <p:sp>
        <p:nvSpPr>
          <p:cNvPr id="117" name="Google Shape;117;p8"/>
          <p:cNvSpPr/>
          <p:nvPr/>
        </p:nvSpPr>
        <p:spPr>
          <a:xfrm>
            <a:off x="714375" y="3036317"/>
            <a:ext cx="3536156" cy="297135"/>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The GRU's simplified architecture results in </a:t>
            </a:r>
            <a:r>
              <a:rPr b="1" i="0" lang="en-US" sz="634" u="none" cap="none" strike="noStrike">
                <a:solidFill>
                  <a:srgbClr val="0044CC"/>
                </a:solidFill>
                <a:latin typeface="Calibri"/>
                <a:ea typeface="Calibri"/>
                <a:cs typeface="Calibri"/>
                <a:sym typeface="Calibri"/>
              </a:rPr>
              <a:t>fewer parameters</a:t>
            </a:r>
            <a:r>
              <a:rPr b="0" i="0" lang="en-US" sz="674" u="none" cap="none" strike="noStrike">
                <a:solidFill>
                  <a:srgbClr val="333333"/>
                </a:solidFill>
                <a:latin typeface="Calibri"/>
                <a:ea typeface="Calibri"/>
                <a:cs typeface="Calibri"/>
                <a:sym typeface="Calibri"/>
              </a:rPr>
              <a:t> than LSTM, leading to </a:t>
            </a:r>
            <a:r>
              <a:rPr b="1" i="0" lang="en-US" sz="634" u="none" cap="none" strike="noStrike">
                <a:solidFill>
                  <a:srgbClr val="0044CC"/>
                </a:solidFill>
                <a:latin typeface="Calibri"/>
                <a:ea typeface="Calibri"/>
                <a:cs typeface="Calibri"/>
                <a:sym typeface="Calibri"/>
              </a:rPr>
              <a:t>faster training</a:t>
            </a:r>
            <a:r>
              <a:rPr b="0" i="0" lang="en-US" sz="674" u="none" cap="none" strike="noStrike">
                <a:solidFill>
                  <a:srgbClr val="333333"/>
                </a:solidFill>
                <a:latin typeface="Calibri"/>
                <a:ea typeface="Calibri"/>
                <a:cs typeface="Calibri"/>
                <a:sym typeface="Calibri"/>
              </a:rPr>
              <a:t> and </a:t>
            </a:r>
            <a:r>
              <a:rPr b="1" i="0" lang="en-US" sz="634" u="none" cap="none" strike="noStrike">
                <a:solidFill>
                  <a:srgbClr val="0044CC"/>
                </a:solidFill>
                <a:latin typeface="Calibri"/>
                <a:ea typeface="Calibri"/>
                <a:cs typeface="Calibri"/>
                <a:sym typeface="Calibri"/>
              </a:rPr>
              <a:t>less risk of overfitting</a:t>
            </a:r>
            <a:r>
              <a:rPr b="0" i="0" lang="en-US" sz="674" u="none" cap="none" strike="noStrike">
                <a:solidFill>
                  <a:srgbClr val="333333"/>
                </a:solidFill>
                <a:latin typeface="Calibri"/>
                <a:ea typeface="Calibri"/>
                <a:cs typeface="Calibri"/>
                <a:sym typeface="Calibri"/>
              </a:rPr>
              <a:t> on large datasets.</a:t>
            </a:r>
            <a:endParaRPr b="0" i="0" sz="674" u="none" cap="none" strike="noStrike">
              <a:solidFill>
                <a:schemeClr val="dk1"/>
              </a:solidFill>
              <a:latin typeface="Calibri"/>
              <a:ea typeface="Calibri"/>
              <a:cs typeface="Calibri"/>
              <a:sym typeface="Calibri"/>
            </a:endParaRPr>
          </a:p>
        </p:txBody>
      </p:sp>
      <p:sp>
        <p:nvSpPr>
          <p:cNvPr id="118" name="Google Shape;118;p8"/>
          <p:cNvSpPr/>
          <p:nvPr/>
        </p:nvSpPr>
        <p:spPr>
          <a:xfrm>
            <a:off x="4750594" y="1051917"/>
            <a:ext cx="3821906" cy="938622"/>
          </a:xfrm>
          <a:prstGeom prst="rect">
            <a:avLst/>
          </a:prstGeom>
          <a:solidFill>
            <a:srgbClr val="0044CC">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4750594" y="1051917"/>
            <a:ext cx="28575" cy="938622"/>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4893469" y="1194792"/>
            <a:ext cx="3536156"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44CC"/>
              </a:buClr>
              <a:buSzPts val="683"/>
              <a:buFont typeface="Calibri"/>
              <a:buNone/>
            </a:pPr>
            <a:r>
              <a:rPr b="1" i="0" lang="en-US" sz="683" u="none" cap="none" strike="noStrike">
                <a:solidFill>
                  <a:srgbClr val="0044CC"/>
                </a:solidFill>
                <a:latin typeface="Calibri"/>
                <a:ea typeface="Calibri"/>
                <a:cs typeface="Calibri"/>
                <a:sym typeface="Calibri"/>
              </a:rPr>
              <a:t>Performance &amp; Efficacy</a:t>
            </a:r>
            <a:endParaRPr b="0" i="0" sz="683" u="none" cap="none" strike="noStrike">
              <a:solidFill>
                <a:schemeClr val="dk1"/>
              </a:solidFill>
              <a:latin typeface="Calibri"/>
              <a:ea typeface="Calibri"/>
              <a:cs typeface="Calibri"/>
              <a:sym typeface="Calibri"/>
            </a:endParaRPr>
          </a:p>
        </p:txBody>
      </p:sp>
      <p:sp>
        <p:nvSpPr>
          <p:cNvPr id="121" name="Google Shape;121;p8"/>
          <p:cNvSpPr/>
          <p:nvPr/>
        </p:nvSpPr>
        <p:spPr>
          <a:xfrm>
            <a:off x="4893469" y="1401961"/>
            <a:ext cx="3536156" cy="445703"/>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Despite its simplification, the GRU often achieves performance that is nearly identical to, or in some cases </a:t>
            </a:r>
            <a:r>
              <a:rPr b="1" i="0" lang="en-US" sz="634" u="none" cap="none" strike="noStrike">
                <a:solidFill>
                  <a:srgbClr val="0044CC"/>
                </a:solidFill>
                <a:latin typeface="Calibri"/>
                <a:ea typeface="Calibri"/>
                <a:cs typeface="Calibri"/>
                <a:sym typeface="Calibri"/>
              </a:rPr>
              <a:t>slightly better than</a:t>
            </a:r>
            <a:r>
              <a:rPr b="0" i="0" lang="en-US" sz="674" u="none" cap="none" strike="noStrike">
                <a:solidFill>
                  <a:srgbClr val="333333"/>
                </a:solidFill>
                <a:latin typeface="Calibri"/>
                <a:ea typeface="Calibri"/>
                <a:cs typeface="Calibri"/>
                <a:sym typeface="Calibri"/>
              </a:rPr>
              <a:t>, the more complex LSTM. This makes it the optimal choice for many applications.</a:t>
            </a:r>
            <a:endParaRPr b="0" i="0" sz="674"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preencoded.png" id="127" name="Google Shape;127;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8" name="Google Shape;128;p9"/>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Implementation Details: LSTM Model Definition</a:t>
            </a:r>
            <a:endParaRPr b="0" i="0" sz="987" u="none" cap="none" strike="noStrike">
              <a:solidFill>
                <a:schemeClr val="dk1"/>
              </a:solidFill>
              <a:latin typeface="Calibri"/>
              <a:ea typeface="Calibri"/>
              <a:cs typeface="Calibri"/>
              <a:sym typeface="Calibri"/>
            </a:endParaRPr>
          </a:p>
        </p:txBody>
      </p:sp>
      <p:sp>
        <p:nvSpPr>
          <p:cNvPr id="129" name="Google Shape;129;p9"/>
          <p:cNvSpPr/>
          <p:nvPr/>
        </p:nvSpPr>
        <p:spPr>
          <a:xfrm>
            <a:off x="571500" y="909050"/>
            <a:ext cx="8001000" cy="3811200"/>
          </a:xfrm>
          <a:prstGeom prst="rect">
            <a:avLst/>
          </a:prstGeom>
          <a:solidFill>
            <a:srgbClr val="2D2D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a:off x="571500" y="909042"/>
            <a:ext cx="28575" cy="2714625"/>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
          <p:cNvSpPr/>
          <p:nvPr/>
        </p:nvSpPr>
        <p:spPr>
          <a:xfrm>
            <a:off x="714375" y="1051917"/>
            <a:ext cx="7715250" cy="3300413"/>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6272A4"/>
              </a:buClr>
              <a:buSzPts val="621"/>
              <a:buFont typeface="Calibri"/>
              <a:buNone/>
            </a:pPr>
            <a:r>
              <a:rPr b="0" i="0" lang="en-US" sz="621" u="none" cap="none" strike="noStrike">
                <a:solidFill>
                  <a:srgbClr val="6272A4"/>
                </a:solidFill>
                <a:latin typeface="Calibri"/>
                <a:ea typeface="Calibri"/>
                <a:cs typeface="Calibri"/>
                <a:sym typeface="Calibri"/>
              </a:rPr>
              <a:t># Keras LSTM Model Definition</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model = keras.Sequential([</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layers.</a:t>
            </a:r>
            <a:r>
              <a:rPr b="0" i="0" lang="en-US" sz="621" u="none" cap="none" strike="noStrike">
                <a:solidFill>
                  <a:srgbClr val="50FA7B"/>
                </a:solidFill>
                <a:latin typeface="Calibri"/>
                <a:ea typeface="Calibri"/>
                <a:cs typeface="Calibri"/>
                <a:sym typeface="Calibri"/>
              </a:rPr>
              <a:t>Embedding</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input_dim=MAX_WORDS,</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output_dim=</a:t>
            </a:r>
            <a:r>
              <a:rPr b="0" i="0" lang="en-US" sz="621" u="none" cap="none" strike="noStrike">
                <a:solidFill>
                  <a:srgbClr val="F1FA8C"/>
                </a:solidFill>
                <a:latin typeface="Calibri"/>
                <a:ea typeface="Calibri"/>
                <a:cs typeface="Calibri"/>
                <a:sym typeface="Calibri"/>
              </a:rPr>
              <a:t>128</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input_length=MAX_SEQ_LENGTH,</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mask_zero=</a:t>
            </a:r>
            <a:r>
              <a:rPr b="0" i="0" lang="en-US" sz="621" u="none" cap="none" strike="noStrike">
                <a:solidFill>
                  <a:srgbClr val="FF79C6"/>
                </a:solidFill>
                <a:latin typeface="Calibri"/>
                <a:ea typeface="Calibri"/>
                <a:cs typeface="Calibri"/>
                <a:sym typeface="Calibri"/>
              </a:rPr>
              <a:t>True</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layers.</a:t>
            </a:r>
            <a:r>
              <a:rPr b="0" i="0" lang="en-US" sz="621" u="none" cap="none" strike="noStrike">
                <a:solidFill>
                  <a:srgbClr val="50FA7B"/>
                </a:solidFill>
                <a:latin typeface="Calibri"/>
                <a:ea typeface="Calibri"/>
                <a:cs typeface="Calibri"/>
                <a:sym typeface="Calibri"/>
              </a:rPr>
              <a:t>LSTM</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a:t>
            </a:r>
            <a:r>
              <a:rPr b="0" i="0" lang="en-US" sz="621" u="none" cap="none" strike="noStrike">
                <a:solidFill>
                  <a:srgbClr val="F1FA8C"/>
                </a:solidFill>
                <a:latin typeface="Calibri"/>
                <a:ea typeface="Calibri"/>
                <a:cs typeface="Calibri"/>
                <a:sym typeface="Calibri"/>
              </a:rPr>
              <a:t>128</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dropout=</a:t>
            </a:r>
            <a:r>
              <a:rPr b="0" i="0" lang="en-US" sz="621" u="none" cap="none" strike="noStrike">
                <a:solidFill>
                  <a:srgbClr val="F1FA8C"/>
                </a:solidFill>
                <a:latin typeface="Calibri"/>
                <a:ea typeface="Calibri"/>
                <a:cs typeface="Calibri"/>
                <a:sym typeface="Calibri"/>
              </a:rPr>
              <a:t>0.2</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recurrent_dropout=</a:t>
            </a:r>
            <a:r>
              <a:rPr b="0" i="0" lang="en-US" sz="621" u="none" cap="none" strike="noStrike">
                <a:solidFill>
                  <a:srgbClr val="F1FA8C"/>
                </a:solidFill>
                <a:latin typeface="Calibri"/>
                <a:ea typeface="Calibri"/>
                <a:cs typeface="Calibri"/>
                <a:sym typeface="Calibri"/>
              </a:rPr>
              <a:t>0.2</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return_sequences=</a:t>
            </a:r>
            <a:r>
              <a:rPr b="0" i="0" lang="en-US" sz="621" u="none" cap="none" strike="noStrike">
                <a:solidFill>
                  <a:srgbClr val="FF79C6"/>
                </a:solidFill>
                <a:latin typeface="Calibri"/>
                <a:ea typeface="Calibri"/>
                <a:cs typeface="Calibri"/>
                <a:sym typeface="Calibri"/>
              </a:rPr>
              <a:t>False</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layers.</a:t>
            </a:r>
            <a:r>
              <a:rPr b="0" i="0" lang="en-US" sz="621" u="none" cap="none" strike="noStrike">
                <a:solidFill>
                  <a:srgbClr val="50FA7B"/>
                </a:solidFill>
                <a:latin typeface="Calibri"/>
                <a:ea typeface="Calibri"/>
                <a:cs typeface="Calibri"/>
                <a:sym typeface="Calibri"/>
              </a:rPr>
              <a:t>Dense</a:t>
            </a:r>
            <a:r>
              <a:rPr b="0" i="0" lang="en-US" sz="621" u="none" cap="none" strike="noStrike">
                <a:solidFill>
                  <a:srgbClr val="E8E8E8"/>
                </a:solidFill>
                <a:latin typeface="Calibri"/>
                <a:ea typeface="Calibri"/>
                <a:cs typeface="Calibri"/>
                <a:sym typeface="Calibri"/>
              </a:rPr>
              <a:t>(</a:t>
            </a:r>
            <a:r>
              <a:rPr b="0" i="0" lang="en-US" sz="621" u="none" cap="none" strike="noStrike">
                <a:solidFill>
                  <a:srgbClr val="F1FA8C"/>
                </a:solidFill>
                <a:latin typeface="Calibri"/>
                <a:ea typeface="Calibri"/>
                <a:cs typeface="Calibri"/>
                <a:sym typeface="Calibri"/>
              </a:rPr>
              <a:t>64</a:t>
            </a:r>
            <a:r>
              <a:rPr b="0" i="0" lang="en-US" sz="621" u="none" cap="none" strike="noStrike">
                <a:solidFill>
                  <a:srgbClr val="E8E8E8"/>
                </a:solidFill>
                <a:latin typeface="Calibri"/>
                <a:ea typeface="Calibri"/>
                <a:cs typeface="Calibri"/>
                <a:sym typeface="Calibri"/>
              </a:rPr>
              <a:t>, activation=</a:t>
            </a:r>
            <a:r>
              <a:rPr b="0" i="0" lang="en-US" sz="621" u="none" cap="none" strike="noStrike">
                <a:solidFill>
                  <a:srgbClr val="F1FA8C"/>
                </a:solidFill>
                <a:latin typeface="Calibri"/>
                <a:ea typeface="Calibri"/>
                <a:cs typeface="Calibri"/>
                <a:sym typeface="Calibri"/>
              </a:rPr>
              <a:t>'relu'</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layers.</a:t>
            </a:r>
            <a:r>
              <a:rPr b="0" i="0" lang="en-US" sz="621" u="none" cap="none" strike="noStrike">
                <a:solidFill>
                  <a:srgbClr val="50FA7B"/>
                </a:solidFill>
                <a:latin typeface="Calibri"/>
                <a:ea typeface="Calibri"/>
                <a:cs typeface="Calibri"/>
                <a:sym typeface="Calibri"/>
              </a:rPr>
              <a:t>Dropout</a:t>
            </a:r>
            <a:r>
              <a:rPr b="0" i="0" lang="en-US" sz="621" u="none" cap="none" strike="noStrike">
                <a:solidFill>
                  <a:srgbClr val="E8E8E8"/>
                </a:solidFill>
                <a:latin typeface="Calibri"/>
                <a:ea typeface="Calibri"/>
                <a:cs typeface="Calibri"/>
                <a:sym typeface="Calibri"/>
              </a:rPr>
              <a:t>(</a:t>
            </a:r>
            <a:r>
              <a:rPr b="0" i="0" lang="en-US" sz="621" u="none" cap="none" strike="noStrike">
                <a:solidFill>
                  <a:srgbClr val="F1FA8C"/>
                </a:solidFill>
                <a:latin typeface="Calibri"/>
                <a:ea typeface="Calibri"/>
                <a:cs typeface="Calibri"/>
                <a:sym typeface="Calibri"/>
              </a:rPr>
              <a:t>0.3</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layers.</a:t>
            </a:r>
            <a:r>
              <a:rPr b="0" i="0" lang="en-US" sz="621" u="none" cap="none" strike="noStrike">
                <a:solidFill>
                  <a:srgbClr val="50FA7B"/>
                </a:solidFill>
                <a:latin typeface="Calibri"/>
                <a:ea typeface="Calibri"/>
                <a:cs typeface="Calibri"/>
                <a:sym typeface="Calibri"/>
              </a:rPr>
              <a:t>Dense</a:t>
            </a:r>
            <a:r>
              <a:rPr b="0" i="0" lang="en-US" sz="621" u="none" cap="none" strike="noStrike">
                <a:solidFill>
                  <a:srgbClr val="E8E8E8"/>
                </a:solidFill>
                <a:latin typeface="Calibri"/>
                <a:ea typeface="Calibri"/>
                <a:cs typeface="Calibri"/>
                <a:sym typeface="Calibri"/>
              </a:rPr>
              <a:t>(</a:t>
            </a:r>
            <a:r>
              <a:rPr b="0" i="0" lang="en-US" sz="621" u="none" cap="none" strike="noStrike">
                <a:solidFill>
                  <a:srgbClr val="F1FA8C"/>
                </a:solidFill>
                <a:latin typeface="Calibri"/>
                <a:ea typeface="Calibri"/>
                <a:cs typeface="Calibri"/>
                <a:sym typeface="Calibri"/>
              </a:rPr>
              <a:t>1</a:t>
            </a:r>
            <a:r>
              <a:rPr b="0" i="0" lang="en-US" sz="621" u="none" cap="none" strike="noStrike">
                <a:solidFill>
                  <a:srgbClr val="E8E8E8"/>
                </a:solidFill>
                <a:latin typeface="Calibri"/>
                <a:ea typeface="Calibri"/>
                <a:cs typeface="Calibri"/>
                <a:sym typeface="Calibri"/>
              </a:rPr>
              <a:t>, activation=</a:t>
            </a:r>
            <a:r>
              <a:rPr b="0" i="0" lang="en-US" sz="621" u="none" cap="none" strike="noStrike">
                <a:solidFill>
                  <a:srgbClr val="F1FA8C"/>
                </a:solidFill>
                <a:latin typeface="Calibri"/>
                <a:ea typeface="Calibri"/>
                <a:cs typeface="Calibri"/>
                <a:sym typeface="Calibri"/>
              </a:rPr>
              <a:t>'sigmoid'</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model.</a:t>
            </a:r>
            <a:r>
              <a:rPr b="0" i="0" lang="en-US" sz="621" u="none" cap="none" strike="noStrike">
                <a:solidFill>
                  <a:srgbClr val="50FA7B"/>
                </a:solidFill>
                <a:latin typeface="Calibri"/>
                <a:ea typeface="Calibri"/>
                <a:cs typeface="Calibri"/>
                <a:sym typeface="Calibri"/>
              </a:rPr>
              <a:t>compile</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optimizer=keras.optimizers.</a:t>
            </a:r>
            <a:r>
              <a:rPr b="0" i="0" lang="en-US" sz="621" u="none" cap="none" strike="noStrike">
                <a:solidFill>
                  <a:srgbClr val="50FA7B"/>
                </a:solidFill>
                <a:latin typeface="Calibri"/>
                <a:ea typeface="Calibri"/>
                <a:cs typeface="Calibri"/>
                <a:sym typeface="Calibri"/>
              </a:rPr>
              <a:t>Adam</a:t>
            </a:r>
            <a:r>
              <a:rPr b="0" i="0" lang="en-US" sz="621" u="none" cap="none" strike="noStrike">
                <a:solidFill>
                  <a:srgbClr val="E8E8E8"/>
                </a:solidFill>
                <a:latin typeface="Calibri"/>
                <a:ea typeface="Calibri"/>
                <a:cs typeface="Calibri"/>
                <a:sym typeface="Calibri"/>
              </a:rPr>
              <a:t>(learning_rate=</a:t>
            </a:r>
            <a:r>
              <a:rPr b="0" i="0" lang="en-US" sz="621" u="none" cap="none" strike="noStrike">
                <a:solidFill>
                  <a:srgbClr val="F1FA8C"/>
                </a:solidFill>
                <a:latin typeface="Calibri"/>
                <a:ea typeface="Calibri"/>
                <a:cs typeface="Calibri"/>
                <a:sym typeface="Calibri"/>
              </a:rPr>
              <a:t>0.001</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loss=</a:t>
            </a:r>
            <a:r>
              <a:rPr b="0" i="0" lang="en-US" sz="621" u="none" cap="none" strike="noStrike">
                <a:solidFill>
                  <a:srgbClr val="F1FA8C"/>
                </a:solidFill>
                <a:latin typeface="Calibri"/>
                <a:ea typeface="Calibri"/>
                <a:cs typeface="Calibri"/>
                <a:sym typeface="Calibri"/>
              </a:rPr>
              <a:t>'binary_crossentropy'</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    metrics=[</a:t>
            </a:r>
            <a:r>
              <a:rPr b="0" i="0" lang="en-US" sz="621" u="none" cap="none" strike="noStrike">
                <a:solidFill>
                  <a:srgbClr val="F1FA8C"/>
                </a:solidFill>
                <a:latin typeface="Calibri"/>
                <a:ea typeface="Calibri"/>
                <a:cs typeface="Calibri"/>
                <a:sym typeface="Calibri"/>
              </a:rPr>
              <a:t>'accuracy'</a:t>
            </a:r>
            <a:r>
              <a:rPr b="0" i="0" lang="en-US" sz="621" u="none" cap="none" strike="noStrike">
                <a:solidFill>
                  <a:srgbClr val="E8E8E8"/>
                </a:solidFill>
                <a:latin typeface="Calibri"/>
                <a:ea typeface="Calibri"/>
                <a:cs typeface="Calibri"/>
                <a:sym typeface="Calibri"/>
              </a:rPr>
              <a:t>]</a:t>
            </a:r>
            <a:br>
              <a:rPr b="0" i="0" lang="en-US" sz="621" u="none" cap="none" strike="noStrike">
                <a:solidFill>
                  <a:srgbClr val="E8E8E8"/>
                </a:solidFill>
                <a:latin typeface="Calibri"/>
                <a:ea typeface="Calibri"/>
                <a:cs typeface="Calibri"/>
                <a:sym typeface="Calibri"/>
              </a:rPr>
            </a:br>
            <a:r>
              <a:rPr b="0" i="0" lang="en-US" sz="621" u="none" cap="none" strike="noStrike">
                <a:solidFill>
                  <a:srgbClr val="E8E8E8"/>
                </a:solidFill>
                <a:latin typeface="Calibri"/>
                <a:ea typeface="Calibri"/>
                <a:cs typeface="Calibri"/>
                <a:sym typeface="Calibri"/>
              </a:rPr>
              <a:t>)</a:t>
            </a:r>
            <a:endParaRPr b="0" i="0" sz="621" u="none" cap="none" strike="noStrike">
              <a:solidFill>
                <a:schemeClr val="dk1"/>
              </a:solidFill>
              <a:latin typeface="Calibri"/>
              <a:ea typeface="Calibri"/>
              <a:cs typeface="Calibri"/>
              <a:sym typeface="Calibri"/>
            </a:endParaRPr>
          </a:p>
        </p:txBody>
      </p:sp>
      <p:sp>
        <p:nvSpPr>
          <p:cNvPr id="132" name="Google Shape;132;p9"/>
          <p:cNvSpPr/>
          <p:nvPr/>
        </p:nvSpPr>
        <p:spPr>
          <a:xfrm>
            <a:off x="571488" y="4780945"/>
            <a:ext cx="7858200" cy="297000"/>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All three models (RNN, LSTM, GRU) share the same input and output layers. The Embedding layer converts word indices to 128-dimensional vectors. The LSTM layer with 128 units processes the sequence, with dropout regularization to prevent overfitting. The Dense layers perform final classification, with the Sigmoid activation ensuring binary output (0 or 1).</a:t>
            </a:r>
            <a:endParaRPr b="0" i="0" sz="674"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preencoded.png" id="138" name="Google Shape;138;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9" name="Google Shape;139;p10"/>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Implementation Details: Text Preprocessing</a:t>
            </a:r>
            <a:endParaRPr b="0" i="0" sz="987" u="none" cap="none" strike="noStrike">
              <a:solidFill>
                <a:schemeClr val="dk1"/>
              </a:solidFill>
              <a:latin typeface="Calibri"/>
              <a:ea typeface="Calibri"/>
              <a:cs typeface="Calibri"/>
              <a:sym typeface="Calibri"/>
            </a:endParaRPr>
          </a:p>
        </p:txBody>
      </p:sp>
      <p:sp>
        <p:nvSpPr>
          <p:cNvPr id="140" name="Google Shape;140;p10"/>
          <p:cNvSpPr/>
          <p:nvPr/>
        </p:nvSpPr>
        <p:spPr>
          <a:xfrm>
            <a:off x="571500" y="730448"/>
            <a:ext cx="8001000" cy="126802"/>
          </a:xfrm>
          <a:prstGeom prst="rect">
            <a:avLst/>
          </a:prstGeom>
          <a:noFill/>
          <a:ln>
            <a:noFill/>
          </a:ln>
        </p:spPr>
        <p:txBody>
          <a:bodyPr anchorCtr="0" anchor="t" bIns="0" lIns="0" spcFirstLastPara="1" rIns="0" wrap="square" tIns="0">
            <a:noAutofit/>
          </a:bodyPr>
          <a:lstStyle/>
          <a:p>
            <a:pPr indent="0" lvl="0" marL="0" marR="0" rtl="0" algn="l">
              <a:lnSpc>
                <a:spcPct val="133531"/>
              </a:lnSpc>
              <a:spcBef>
                <a:spcPts val="0"/>
              </a:spcBef>
              <a:spcAft>
                <a:spcPts val="0"/>
              </a:spcAft>
              <a:buClr>
                <a:srgbClr val="666666"/>
              </a:buClr>
              <a:buSzPts val="674"/>
              <a:buFont typeface="Calibri"/>
              <a:buNone/>
            </a:pPr>
            <a:r>
              <a:rPr b="0" i="0" lang="en-US" sz="674" u="none" cap="none" strike="noStrike">
                <a:solidFill>
                  <a:srgbClr val="666666"/>
                </a:solidFill>
                <a:latin typeface="Calibri"/>
                <a:ea typeface="Calibri"/>
                <a:cs typeface="Calibri"/>
                <a:sym typeface="Calibri"/>
              </a:rPr>
              <a:t>Key Code Snippet for Data Cleaning and Standardization</a:t>
            </a:r>
            <a:endParaRPr b="0" i="0" sz="674" u="none" cap="none" strike="noStrike">
              <a:solidFill>
                <a:schemeClr val="dk1"/>
              </a:solidFill>
              <a:latin typeface="Calibri"/>
              <a:ea typeface="Calibri"/>
              <a:cs typeface="Calibri"/>
              <a:sym typeface="Calibri"/>
            </a:endParaRPr>
          </a:p>
        </p:txBody>
      </p:sp>
      <p:sp>
        <p:nvSpPr>
          <p:cNvPr id="141" name="Google Shape;141;p10"/>
          <p:cNvSpPr/>
          <p:nvPr/>
        </p:nvSpPr>
        <p:spPr>
          <a:xfrm>
            <a:off x="571500" y="1107281"/>
            <a:ext cx="6429375" cy="297135"/>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A robust preprocessing step is crucial for any NLP project. This function handles the initial cleaning of raw tweet data, removing noise like user mentions and URLs, which are irrelevant to sentiment analysis.</a:t>
            </a:r>
            <a:endParaRPr b="0" i="0" sz="674" u="none" cap="none" strike="noStrike">
              <a:solidFill>
                <a:schemeClr val="dk1"/>
              </a:solidFill>
              <a:latin typeface="Calibri"/>
              <a:ea typeface="Calibri"/>
              <a:cs typeface="Calibri"/>
              <a:sym typeface="Calibri"/>
            </a:endParaRPr>
          </a:p>
        </p:txBody>
      </p:sp>
      <p:sp>
        <p:nvSpPr>
          <p:cNvPr id="142" name="Google Shape;142;p10"/>
          <p:cNvSpPr/>
          <p:nvPr/>
        </p:nvSpPr>
        <p:spPr>
          <a:xfrm>
            <a:off x="571500" y="1547292"/>
            <a:ext cx="6429375" cy="82005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
          <p:cNvSpPr/>
          <p:nvPr/>
        </p:nvSpPr>
        <p:spPr>
          <a:xfrm>
            <a:off x="571500" y="1547292"/>
            <a:ext cx="28575" cy="820052"/>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
          <p:cNvSpPr/>
          <p:nvPr/>
        </p:nvSpPr>
        <p:spPr>
          <a:xfrm>
            <a:off x="571500" y="1547292"/>
            <a:ext cx="6429375" cy="820052"/>
          </a:xfrm>
          <a:prstGeom prst="rect">
            <a:avLst/>
          </a:prstGeom>
          <a:noFill/>
          <a:ln>
            <a:noFill/>
          </a:ln>
        </p:spPr>
        <p:txBody>
          <a:bodyPr anchorCtr="0" anchor="t" bIns="212575" lIns="212575" spcFirstLastPara="1" rIns="212575" wrap="square" tIns="212575">
            <a:noAutofit/>
          </a:bodyPr>
          <a:lstStyle/>
          <a:p>
            <a:pPr indent="0" lvl="0" marL="0" marR="0" rtl="0" algn="l">
              <a:lnSpc>
                <a:spcPct val="193236"/>
              </a:lnSpc>
              <a:spcBef>
                <a:spcPts val="0"/>
              </a:spcBef>
              <a:spcAft>
                <a:spcPts val="0"/>
              </a:spcAft>
              <a:buClr>
                <a:srgbClr val="666666"/>
              </a:buClr>
              <a:buSzPts val="621"/>
              <a:buFont typeface="Calibri"/>
              <a:buNone/>
            </a:pPr>
            <a:r>
              <a:rPr b="0" i="1" lang="en-US" sz="621" u="none" cap="none" strike="noStrike">
                <a:solidFill>
                  <a:srgbClr val="666666"/>
                </a:solidFill>
                <a:latin typeface="Calibri"/>
                <a:ea typeface="Calibri"/>
                <a:cs typeface="Calibri"/>
                <a:sym typeface="Calibri"/>
              </a:rPr>
              <a:t># Python Preprocessing Function</a:t>
            </a:r>
            <a:r>
              <a:rPr b="0" i="0" lang="en-US" sz="621" u="none" cap="none" strike="noStrike">
                <a:solidFill>
                  <a:srgbClr val="FF4040"/>
                </a:solidFill>
                <a:latin typeface="Calibri"/>
                <a:ea typeface="Calibri"/>
                <a:cs typeface="Calibri"/>
                <a:sym typeface="Calibri"/>
              </a:rPr>
              <a:t>text_cleaning_re</a:t>
            </a:r>
            <a:r>
              <a:rPr b="0" i="0" lang="en-US" sz="621" u="none" cap="none" strike="noStrike">
                <a:solidFill>
                  <a:srgbClr val="000000"/>
                </a:solidFill>
                <a:latin typeface="Calibri"/>
                <a:ea typeface="Calibri"/>
                <a:cs typeface="Calibri"/>
                <a:sym typeface="Calibri"/>
              </a:rPr>
              <a:t> = </a:t>
            </a:r>
            <a:r>
              <a:rPr b="0" i="0" lang="en-US" sz="621" u="none" cap="none" strike="noStrike">
                <a:solidFill>
                  <a:srgbClr val="FF4040"/>
                </a:solidFill>
                <a:latin typeface="Calibri"/>
                <a:ea typeface="Calibri"/>
                <a:cs typeface="Calibri"/>
                <a:sym typeface="Calibri"/>
              </a:rPr>
              <a:t>'@\S+|https?:\S+|http?:\S|[^A-Za-z0-9]+'</a:t>
            </a:r>
            <a:r>
              <a:rPr b="1" i="0" lang="en-US" sz="584" u="none" cap="none" strike="noStrike">
                <a:solidFill>
                  <a:srgbClr val="0044CC"/>
                </a:solidFill>
                <a:latin typeface="Calibri"/>
                <a:ea typeface="Calibri"/>
                <a:cs typeface="Calibri"/>
                <a:sym typeface="Calibri"/>
              </a:rPr>
              <a:t>def</a:t>
            </a:r>
            <a:r>
              <a:rPr b="1" i="0" lang="en-US" sz="584" u="none" cap="none" strike="noStrike">
                <a:solidFill>
                  <a:srgbClr val="333333"/>
                </a:solidFill>
                <a:latin typeface="Calibri"/>
                <a:ea typeface="Calibri"/>
                <a:cs typeface="Calibri"/>
                <a:sym typeface="Calibri"/>
              </a:rPr>
              <a:t>preprocessing</a:t>
            </a:r>
            <a:r>
              <a:rPr b="0" i="0" lang="en-US" sz="621" u="none" cap="none" strike="noStrike">
                <a:solidFill>
                  <a:srgbClr val="000000"/>
                </a:solidFill>
                <a:latin typeface="Calibri"/>
                <a:ea typeface="Calibri"/>
                <a:cs typeface="Calibri"/>
                <a:sym typeface="Calibri"/>
              </a:rPr>
              <a:t>(text): </a:t>
            </a:r>
            <a:r>
              <a:rPr b="0" i="1" lang="en-US" sz="621" u="none" cap="none" strike="noStrike">
                <a:solidFill>
                  <a:srgbClr val="666666"/>
                </a:solidFill>
                <a:latin typeface="Calibri"/>
                <a:ea typeface="Calibri"/>
                <a:cs typeface="Calibri"/>
                <a:sym typeface="Calibri"/>
              </a:rPr>
              <a:t>"""Cleans text by removing mentions, URLs, and non-alphanumeric characters."""</a:t>
            </a:r>
            <a:r>
              <a:rPr b="0" i="0" lang="en-US" sz="621" u="none" cap="none" strike="noStrike">
                <a:solidFill>
                  <a:srgbClr val="000000"/>
                </a:solidFill>
                <a:latin typeface="Calibri"/>
                <a:ea typeface="Calibri"/>
                <a:cs typeface="Calibri"/>
                <a:sym typeface="Calibri"/>
              </a:rPr>
              <a:t> text = re.sub(text_cleaning_re, </a:t>
            </a:r>
            <a:r>
              <a:rPr b="0" i="0" lang="en-US" sz="621" u="none" cap="none" strike="noStrike">
                <a:solidFill>
                  <a:srgbClr val="FF4040"/>
                </a:solidFill>
                <a:latin typeface="Calibri"/>
                <a:ea typeface="Calibri"/>
                <a:cs typeface="Calibri"/>
                <a:sym typeface="Calibri"/>
              </a:rPr>
              <a:t>' '</a:t>
            </a:r>
            <a:r>
              <a:rPr b="0" i="0" lang="en-US" sz="621" u="none" cap="none" strike="noStrike">
                <a:solidFill>
                  <a:srgbClr val="000000"/>
                </a:solidFill>
                <a:latin typeface="Calibri"/>
                <a:ea typeface="Calibri"/>
                <a:cs typeface="Calibri"/>
                <a:sym typeface="Calibri"/>
              </a:rPr>
              <a:t>, str(text).lower()).strip() tokens = [] </a:t>
            </a:r>
            <a:r>
              <a:rPr b="1" i="0" lang="en-US" sz="584" u="none" cap="none" strike="noStrike">
                <a:solidFill>
                  <a:srgbClr val="0044CC"/>
                </a:solidFill>
                <a:latin typeface="Calibri"/>
                <a:ea typeface="Calibri"/>
                <a:cs typeface="Calibri"/>
                <a:sym typeface="Calibri"/>
              </a:rPr>
              <a:t>for</a:t>
            </a:r>
            <a:r>
              <a:rPr b="0" i="0" lang="en-US" sz="621" u="none" cap="none" strike="noStrike">
                <a:solidFill>
                  <a:srgbClr val="000000"/>
                </a:solidFill>
                <a:latin typeface="Calibri"/>
                <a:ea typeface="Calibri"/>
                <a:cs typeface="Calibri"/>
                <a:sym typeface="Calibri"/>
              </a:rPr>
              <a:t> token </a:t>
            </a:r>
            <a:r>
              <a:rPr b="1" i="0" lang="en-US" sz="584" u="none" cap="none" strike="noStrike">
                <a:solidFill>
                  <a:srgbClr val="0044CC"/>
                </a:solidFill>
                <a:latin typeface="Calibri"/>
                <a:ea typeface="Calibri"/>
                <a:cs typeface="Calibri"/>
                <a:sym typeface="Calibri"/>
              </a:rPr>
              <a:t>in</a:t>
            </a:r>
            <a:r>
              <a:rPr b="0" i="0" lang="en-US" sz="621" u="none" cap="none" strike="noStrike">
                <a:solidFill>
                  <a:srgbClr val="000000"/>
                </a:solidFill>
                <a:latin typeface="Calibri"/>
                <a:ea typeface="Calibri"/>
                <a:cs typeface="Calibri"/>
                <a:sym typeface="Calibri"/>
              </a:rPr>
              <a:t> text.split(): tokens.append(token) </a:t>
            </a:r>
            <a:r>
              <a:rPr b="1" i="0" lang="en-US" sz="584" u="none" cap="none" strike="noStrike">
                <a:solidFill>
                  <a:srgbClr val="0044CC"/>
                </a:solidFill>
                <a:latin typeface="Calibri"/>
                <a:ea typeface="Calibri"/>
                <a:cs typeface="Calibri"/>
                <a:sym typeface="Calibri"/>
              </a:rPr>
              <a:t>return</a:t>
            </a:r>
            <a:r>
              <a:rPr b="0" i="0" lang="en-US" sz="621" u="none" cap="none" strike="noStrike">
                <a:solidFill>
                  <a:srgbClr val="FF4040"/>
                </a:solidFill>
                <a:latin typeface="Calibri"/>
                <a:ea typeface="Calibri"/>
                <a:cs typeface="Calibri"/>
                <a:sym typeface="Calibri"/>
              </a:rPr>
              <a:t>' '</a:t>
            </a:r>
            <a:r>
              <a:rPr b="0" i="0" lang="en-US" sz="621" u="none" cap="none" strike="noStrike">
                <a:solidFill>
                  <a:srgbClr val="000000"/>
                </a:solidFill>
                <a:latin typeface="Calibri"/>
                <a:ea typeface="Calibri"/>
                <a:cs typeface="Calibri"/>
                <a:sym typeface="Calibri"/>
              </a:rPr>
              <a:t>.join(tokens)</a:t>
            </a:r>
            <a:endParaRPr b="0" i="0" sz="621" u="none" cap="none" strike="noStrike">
              <a:solidFill>
                <a:schemeClr val="dk1"/>
              </a:solidFill>
              <a:latin typeface="Calibri"/>
              <a:ea typeface="Calibri"/>
              <a:cs typeface="Calibri"/>
              <a:sym typeface="Calibri"/>
            </a:endParaRPr>
          </a:p>
        </p:txBody>
      </p:sp>
      <p:sp>
        <p:nvSpPr>
          <p:cNvPr id="145" name="Google Shape;145;p10"/>
          <p:cNvSpPr/>
          <p:nvPr/>
        </p:nvSpPr>
        <p:spPr>
          <a:xfrm>
            <a:off x="571500" y="2653094"/>
            <a:ext cx="6429375" cy="382191"/>
          </a:xfrm>
          <a:prstGeom prst="rect">
            <a:avLst/>
          </a:prstGeom>
          <a:noFill/>
          <a:ln>
            <a:noFill/>
          </a:ln>
        </p:spPr>
        <p:txBody>
          <a:bodyPr anchorCtr="0" anchor="t" bIns="0" lIns="0" spcFirstLastPara="1" rIns="0" wrap="square" tIns="170050">
            <a:noAutofit/>
          </a:bodyPr>
          <a:lstStyle/>
          <a:p>
            <a:pPr indent="0" lvl="0" marL="0" marR="0" rtl="0" algn="l">
              <a:lnSpc>
                <a:spcPct val="128824"/>
              </a:lnSpc>
              <a:spcBef>
                <a:spcPts val="0"/>
              </a:spcBef>
              <a:spcAft>
                <a:spcPts val="0"/>
              </a:spcAft>
              <a:buClr>
                <a:srgbClr val="666666"/>
              </a:buClr>
              <a:buSzPts val="584"/>
              <a:buFont typeface="Calibri"/>
              <a:buNone/>
            </a:pPr>
            <a:r>
              <a:rPr b="1" i="0" lang="en-US" sz="584" u="none" cap="none" strike="noStrike">
                <a:solidFill>
                  <a:srgbClr val="666666"/>
                </a:solidFill>
                <a:latin typeface="Calibri"/>
                <a:ea typeface="Calibri"/>
                <a:cs typeface="Calibri"/>
                <a:sym typeface="Calibri"/>
              </a:rPr>
              <a:t>What this code does:</a:t>
            </a:r>
            <a:r>
              <a:rPr b="0" i="0" lang="en-US" sz="621" u="none" cap="none" strike="noStrike">
                <a:solidFill>
                  <a:srgbClr val="666666"/>
                </a:solidFill>
                <a:latin typeface="Calibri"/>
                <a:ea typeface="Calibri"/>
                <a:cs typeface="Calibri"/>
                <a:sym typeface="Calibri"/>
              </a:rPr>
              <a:t> The regex pattern removes user mentions (@user), URLs (http/https), and non-alphanumeric characters. The text is converted to lowercase for consistency, and the function returns the cleaned, tokenized text ready for embedding.</a:t>
            </a:r>
            <a:endParaRPr b="0" i="0" sz="584"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preencoded.png" id="151" name="Google Shape;151;p11"/>
          <p:cNvPicPr preferRelativeResize="0"/>
          <p:nvPr/>
        </p:nvPicPr>
        <p:blipFill rotWithShape="1">
          <a:blip r:embed="rId3">
            <a:alphaModFix/>
          </a:blip>
          <a:srcRect b="0" l="0" r="0" t="0"/>
          <a:stretch/>
        </p:blipFill>
        <p:spPr>
          <a:xfrm>
            <a:off x="0" y="0"/>
            <a:ext cx="9144000" cy="5224090"/>
          </a:xfrm>
          <a:prstGeom prst="rect">
            <a:avLst/>
          </a:prstGeom>
          <a:noFill/>
          <a:ln>
            <a:noFill/>
          </a:ln>
        </p:spPr>
      </p:pic>
      <p:sp>
        <p:nvSpPr>
          <p:cNvPr id="152" name="Google Shape;152;p11"/>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GRU Achieves Highest Accuracy and F1-Score</a:t>
            </a:r>
            <a:endParaRPr b="0" i="0" sz="987" u="none" cap="none" strike="noStrike">
              <a:solidFill>
                <a:schemeClr val="dk1"/>
              </a:solidFill>
              <a:latin typeface="Calibri"/>
              <a:ea typeface="Calibri"/>
              <a:cs typeface="Calibri"/>
              <a:sym typeface="Calibri"/>
            </a:endParaRPr>
          </a:p>
        </p:txBody>
      </p:sp>
      <p:sp>
        <p:nvSpPr>
          <p:cNvPr id="153" name="Google Shape;153;p11"/>
          <p:cNvSpPr/>
          <p:nvPr/>
        </p:nvSpPr>
        <p:spPr>
          <a:xfrm>
            <a:off x="571500" y="909042"/>
            <a:ext cx="5715000" cy="445703"/>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The experimental results clearly demonstrate the superiority of the </a:t>
            </a:r>
            <a:r>
              <a:rPr b="1" i="0" lang="en-US" sz="634" u="none" cap="none" strike="noStrike">
                <a:solidFill>
                  <a:srgbClr val="0044CC"/>
                </a:solidFill>
                <a:latin typeface="Calibri"/>
                <a:ea typeface="Calibri"/>
                <a:cs typeface="Calibri"/>
                <a:sym typeface="Calibri"/>
              </a:rPr>
              <a:t>GRU model</a:t>
            </a:r>
            <a:r>
              <a:rPr b="0" i="0" lang="en-US" sz="674" u="none" cap="none" strike="noStrike">
                <a:solidFill>
                  <a:srgbClr val="333333"/>
                </a:solidFill>
                <a:latin typeface="Calibri"/>
                <a:ea typeface="Calibri"/>
                <a:cs typeface="Calibri"/>
                <a:sym typeface="Calibri"/>
              </a:rPr>
              <a:t> for sentiment analysis on social media data. The GRU achieved the highest performance metrics, followed closely by the LSTM, while the standard RNN significantly lagged behind, confirming the severity of the vanishing gradient problem.</a:t>
            </a:r>
            <a:endParaRPr b="0" i="0" sz="674" u="none" cap="none" strike="noStrike">
              <a:solidFill>
                <a:schemeClr val="dk1"/>
              </a:solidFill>
              <a:latin typeface="Calibri"/>
              <a:ea typeface="Calibri"/>
              <a:cs typeface="Calibri"/>
              <a:sym typeface="Calibri"/>
            </a:endParaRPr>
          </a:p>
        </p:txBody>
      </p:sp>
      <p:sp>
        <p:nvSpPr>
          <p:cNvPr id="154" name="Google Shape;154;p11"/>
          <p:cNvSpPr/>
          <p:nvPr/>
        </p:nvSpPr>
        <p:spPr>
          <a:xfrm>
            <a:off x="2071688" y="1626208"/>
            <a:ext cx="5000625" cy="147339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a:off x="2071688" y="1626208"/>
            <a:ext cx="1562472" cy="355402"/>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a:off x="2071688" y="1626208"/>
            <a:ext cx="1562472" cy="355402"/>
          </a:xfrm>
          <a:prstGeom prst="rect">
            <a:avLst/>
          </a:prstGeom>
          <a:noFill/>
          <a:ln>
            <a:noFill/>
          </a:ln>
        </p:spPr>
        <p:txBody>
          <a:bodyPr anchorCtr="0" anchor="ctr" bIns="136000" lIns="204075" spcFirstLastPara="1" rIns="204075" wrap="square" tIns="13600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Model</a:t>
            </a:r>
            <a:endParaRPr b="0" i="0" sz="634" u="none" cap="none" strike="noStrike">
              <a:solidFill>
                <a:schemeClr val="dk1"/>
              </a:solidFill>
              <a:latin typeface="Calibri"/>
              <a:ea typeface="Calibri"/>
              <a:cs typeface="Calibri"/>
              <a:sym typeface="Calibri"/>
            </a:endParaRPr>
          </a:p>
        </p:txBody>
      </p:sp>
      <p:sp>
        <p:nvSpPr>
          <p:cNvPr id="157" name="Google Shape;157;p11"/>
          <p:cNvSpPr/>
          <p:nvPr/>
        </p:nvSpPr>
        <p:spPr>
          <a:xfrm>
            <a:off x="3634160" y="1626208"/>
            <a:ext cx="1756609" cy="355402"/>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a:off x="3634160" y="1626208"/>
            <a:ext cx="1756609" cy="355402"/>
          </a:xfrm>
          <a:prstGeom prst="rect">
            <a:avLst/>
          </a:prstGeom>
          <a:noFill/>
          <a:ln>
            <a:noFill/>
          </a:ln>
        </p:spPr>
        <p:txBody>
          <a:bodyPr anchorCtr="0" anchor="ctr" bIns="136000" lIns="204075" spcFirstLastPara="1" rIns="204075" wrap="square" tIns="13600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Test Accuracy (%)</a:t>
            </a:r>
            <a:endParaRPr b="0" i="0" sz="634" u="none" cap="none" strike="noStrike">
              <a:solidFill>
                <a:schemeClr val="dk1"/>
              </a:solidFill>
              <a:latin typeface="Calibri"/>
              <a:ea typeface="Calibri"/>
              <a:cs typeface="Calibri"/>
              <a:sym typeface="Calibri"/>
            </a:endParaRPr>
          </a:p>
        </p:txBody>
      </p:sp>
      <p:sp>
        <p:nvSpPr>
          <p:cNvPr id="159" name="Google Shape;159;p11"/>
          <p:cNvSpPr/>
          <p:nvPr/>
        </p:nvSpPr>
        <p:spPr>
          <a:xfrm>
            <a:off x="5390769" y="1626208"/>
            <a:ext cx="1681544" cy="355402"/>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1"/>
          <p:cNvSpPr/>
          <p:nvPr/>
        </p:nvSpPr>
        <p:spPr>
          <a:xfrm>
            <a:off x="5390769" y="1626208"/>
            <a:ext cx="1681544" cy="355402"/>
          </a:xfrm>
          <a:prstGeom prst="rect">
            <a:avLst/>
          </a:prstGeom>
          <a:noFill/>
          <a:ln>
            <a:noFill/>
          </a:ln>
        </p:spPr>
        <p:txBody>
          <a:bodyPr anchorCtr="0" anchor="ctr" bIns="136000" lIns="204075" spcFirstLastPara="1" rIns="204075" wrap="square" tIns="136000">
            <a:noAutofit/>
          </a:bodyPr>
          <a:lstStyle/>
          <a:p>
            <a:pPr indent="0" lvl="0" marL="0" marR="0" rtl="0" algn="l">
              <a:lnSpc>
                <a:spcPct val="141955"/>
              </a:lnSpc>
              <a:spcBef>
                <a:spcPts val="0"/>
              </a:spcBef>
              <a:spcAft>
                <a:spcPts val="0"/>
              </a:spcAft>
              <a:buClr>
                <a:srgbClr val="FFFFFF"/>
              </a:buClr>
              <a:buSzPts val="634"/>
              <a:buFont typeface="Calibri"/>
              <a:buNone/>
            </a:pPr>
            <a:r>
              <a:rPr b="1" i="0" lang="en-US" sz="634" u="none" cap="none" strike="noStrike">
                <a:solidFill>
                  <a:srgbClr val="FFFFFF"/>
                </a:solidFill>
                <a:latin typeface="Calibri"/>
                <a:ea typeface="Calibri"/>
                <a:cs typeface="Calibri"/>
                <a:sym typeface="Calibri"/>
              </a:rPr>
              <a:t>Test F1-Score (%)</a:t>
            </a:r>
            <a:endParaRPr b="0" i="0" sz="634" u="none" cap="none" strike="noStrike">
              <a:solidFill>
                <a:schemeClr val="dk1"/>
              </a:solidFill>
              <a:latin typeface="Calibri"/>
              <a:ea typeface="Calibri"/>
              <a:cs typeface="Calibri"/>
              <a:sym typeface="Calibri"/>
            </a:endParaRPr>
          </a:p>
        </p:txBody>
      </p:sp>
      <p:sp>
        <p:nvSpPr>
          <p:cNvPr id="161" name="Google Shape;161;p11"/>
          <p:cNvSpPr/>
          <p:nvPr/>
        </p:nvSpPr>
        <p:spPr>
          <a:xfrm>
            <a:off x="2071688" y="1981609"/>
            <a:ext cx="5000625" cy="396478"/>
          </a:xfrm>
          <a:prstGeom prst="rect">
            <a:avLst/>
          </a:prstGeom>
          <a:solidFill>
            <a:srgbClr val="0044CC">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2243138" y="2110197"/>
            <a:ext cx="196816"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44CC"/>
              </a:buClr>
              <a:buSzPts val="634"/>
              <a:buFont typeface="Calibri"/>
              <a:buNone/>
            </a:pPr>
            <a:r>
              <a:rPr b="1" i="0" lang="en-US" sz="634" u="none" cap="none" strike="noStrike">
                <a:solidFill>
                  <a:srgbClr val="0044CC"/>
                </a:solidFill>
                <a:latin typeface="Calibri"/>
                <a:ea typeface="Calibri"/>
                <a:cs typeface="Calibri"/>
                <a:sym typeface="Calibri"/>
              </a:rPr>
              <a:t>GRU</a:t>
            </a:r>
            <a:endParaRPr b="0" i="0" sz="634" u="none" cap="none" strike="noStrike">
              <a:solidFill>
                <a:schemeClr val="dk1"/>
              </a:solidFill>
              <a:latin typeface="Calibri"/>
              <a:ea typeface="Calibri"/>
              <a:cs typeface="Calibri"/>
              <a:sym typeface="Calibri"/>
            </a:endParaRPr>
          </a:p>
        </p:txBody>
      </p:sp>
      <p:sp>
        <p:nvSpPr>
          <p:cNvPr id="163" name="Google Shape;163;p11"/>
          <p:cNvSpPr/>
          <p:nvPr/>
        </p:nvSpPr>
        <p:spPr>
          <a:xfrm>
            <a:off x="2525678" y="2095909"/>
            <a:ext cx="516108" cy="164306"/>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
          <p:cNvSpPr/>
          <p:nvPr/>
        </p:nvSpPr>
        <p:spPr>
          <a:xfrm>
            <a:off x="2525678" y="2095909"/>
            <a:ext cx="516108" cy="164306"/>
          </a:xfrm>
          <a:prstGeom prst="rect">
            <a:avLst/>
          </a:prstGeom>
          <a:noFill/>
          <a:ln>
            <a:noFill/>
          </a:ln>
        </p:spPr>
        <p:txBody>
          <a:bodyPr anchorCtr="0" anchor="t" bIns="34025" lIns="102100" spcFirstLastPara="1" rIns="102100" wrap="square" tIns="34025">
            <a:noAutofit/>
          </a:bodyPr>
          <a:lstStyle/>
          <a:p>
            <a:pPr indent="0" lvl="0" marL="0" marR="0" rtl="0" algn="l">
              <a:lnSpc>
                <a:spcPct val="131086"/>
              </a:lnSpc>
              <a:spcBef>
                <a:spcPts val="0"/>
              </a:spcBef>
              <a:spcAft>
                <a:spcPts val="0"/>
              </a:spcAft>
              <a:buClr>
                <a:srgbClr val="FFFFFF"/>
              </a:buClr>
              <a:buSzPts val="534"/>
              <a:buFont typeface="Calibri"/>
              <a:buNone/>
            </a:pPr>
            <a:r>
              <a:rPr b="1" i="0" lang="en-US" sz="534" u="none" cap="none" strike="noStrike">
                <a:solidFill>
                  <a:srgbClr val="FFFFFF"/>
                </a:solidFill>
                <a:latin typeface="Calibri"/>
                <a:ea typeface="Calibri"/>
                <a:cs typeface="Calibri"/>
                <a:sym typeface="Calibri"/>
              </a:rPr>
              <a:t>Winner</a:t>
            </a:r>
            <a:endParaRPr b="0" i="0" sz="534" u="none" cap="none" strike="noStrike">
              <a:solidFill>
                <a:schemeClr val="dk1"/>
              </a:solidFill>
              <a:latin typeface="Calibri"/>
              <a:ea typeface="Calibri"/>
              <a:cs typeface="Calibri"/>
              <a:sym typeface="Calibri"/>
            </a:endParaRPr>
          </a:p>
        </p:txBody>
      </p:sp>
      <p:sp>
        <p:nvSpPr>
          <p:cNvPr id="165" name="Google Shape;165;p11"/>
          <p:cNvSpPr/>
          <p:nvPr/>
        </p:nvSpPr>
        <p:spPr>
          <a:xfrm>
            <a:off x="3805610" y="2114662"/>
            <a:ext cx="244534"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44CC"/>
              </a:buClr>
              <a:buSzPts val="634"/>
              <a:buFont typeface="Calibri"/>
              <a:buNone/>
            </a:pPr>
            <a:r>
              <a:rPr b="1" i="0" lang="en-US" sz="634" u="none" cap="none" strike="noStrike">
                <a:solidFill>
                  <a:srgbClr val="0044CC"/>
                </a:solidFill>
                <a:latin typeface="Calibri"/>
                <a:ea typeface="Calibri"/>
                <a:cs typeface="Calibri"/>
                <a:sym typeface="Calibri"/>
              </a:rPr>
              <a:t>83.01</a:t>
            </a:r>
            <a:endParaRPr b="0" i="0" sz="634" u="none" cap="none" strike="noStrike">
              <a:solidFill>
                <a:schemeClr val="dk1"/>
              </a:solidFill>
              <a:latin typeface="Calibri"/>
              <a:ea typeface="Calibri"/>
              <a:cs typeface="Calibri"/>
              <a:sym typeface="Calibri"/>
            </a:endParaRPr>
          </a:p>
        </p:txBody>
      </p:sp>
      <p:sp>
        <p:nvSpPr>
          <p:cNvPr id="166" name="Google Shape;166;p11"/>
          <p:cNvSpPr/>
          <p:nvPr/>
        </p:nvSpPr>
        <p:spPr>
          <a:xfrm>
            <a:off x="5562219" y="2114662"/>
            <a:ext cx="244534"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44CC"/>
              </a:buClr>
              <a:buSzPts val="634"/>
              <a:buFont typeface="Calibri"/>
              <a:buNone/>
            </a:pPr>
            <a:r>
              <a:rPr b="1" i="0" lang="en-US" sz="634" u="none" cap="none" strike="noStrike">
                <a:solidFill>
                  <a:srgbClr val="0044CC"/>
                </a:solidFill>
                <a:latin typeface="Calibri"/>
                <a:ea typeface="Calibri"/>
                <a:cs typeface="Calibri"/>
                <a:sym typeface="Calibri"/>
              </a:rPr>
              <a:t>82.88</a:t>
            </a:r>
            <a:endParaRPr b="0" i="0" sz="634" u="none" cap="none" strike="noStrike">
              <a:solidFill>
                <a:schemeClr val="dk1"/>
              </a:solidFill>
              <a:latin typeface="Calibri"/>
              <a:ea typeface="Calibri"/>
              <a:cs typeface="Calibri"/>
              <a:sym typeface="Calibri"/>
            </a:endParaRPr>
          </a:p>
        </p:txBody>
      </p:sp>
      <p:sp>
        <p:nvSpPr>
          <p:cNvPr id="167" name="Google Shape;167;p11"/>
          <p:cNvSpPr/>
          <p:nvPr/>
        </p:nvSpPr>
        <p:spPr>
          <a:xfrm>
            <a:off x="2243138" y="2495959"/>
            <a:ext cx="241381"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LSTM</a:t>
            </a:r>
            <a:endParaRPr b="0" i="0" sz="634" u="none" cap="none" strike="noStrike">
              <a:solidFill>
                <a:schemeClr val="dk1"/>
              </a:solidFill>
              <a:latin typeface="Calibri"/>
              <a:ea typeface="Calibri"/>
              <a:cs typeface="Calibri"/>
              <a:sym typeface="Calibri"/>
            </a:endParaRPr>
          </a:p>
        </p:txBody>
      </p:sp>
      <p:sp>
        <p:nvSpPr>
          <p:cNvPr id="168" name="Google Shape;168;p11"/>
          <p:cNvSpPr/>
          <p:nvPr/>
        </p:nvSpPr>
        <p:spPr>
          <a:xfrm>
            <a:off x="3634160" y="2378087"/>
            <a:ext cx="1756609" cy="362545"/>
          </a:xfrm>
          <a:prstGeom prst="rect">
            <a:avLst/>
          </a:prstGeom>
          <a:noFill/>
          <a:ln>
            <a:noFill/>
          </a:ln>
        </p:spPr>
        <p:txBody>
          <a:bodyPr anchorCtr="0" anchor="ctr" bIns="136000" lIns="204075" spcFirstLastPara="1" rIns="204075" wrap="square" tIns="136000">
            <a:noAutofit/>
          </a:bodyPr>
          <a:lstStyle/>
          <a:p>
            <a:pPr indent="0" lvl="0" marL="0" marR="0" rtl="0" algn="l">
              <a:lnSpc>
                <a:spcPct val="13353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82.83</a:t>
            </a:r>
            <a:endParaRPr b="0" i="0" sz="674" u="none" cap="none" strike="noStrike">
              <a:solidFill>
                <a:schemeClr val="dk1"/>
              </a:solidFill>
              <a:latin typeface="Calibri"/>
              <a:ea typeface="Calibri"/>
              <a:cs typeface="Calibri"/>
              <a:sym typeface="Calibri"/>
            </a:endParaRPr>
          </a:p>
        </p:txBody>
      </p:sp>
      <p:sp>
        <p:nvSpPr>
          <p:cNvPr id="169" name="Google Shape;169;p11"/>
          <p:cNvSpPr/>
          <p:nvPr/>
        </p:nvSpPr>
        <p:spPr>
          <a:xfrm>
            <a:off x="5390769" y="2378087"/>
            <a:ext cx="1681544" cy="362545"/>
          </a:xfrm>
          <a:prstGeom prst="rect">
            <a:avLst/>
          </a:prstGeom>
          <a:noFill/>
          <a:ln>
            <a:noFill/>
          </a:ln>
        </p:spPr>
        <p:txBody>
          <a:bodyPr anchorCtr="0" anchor="ctr" bIns="136000" lIns="204075" spcFirstLastPara="1" rIns="204075" wrap="square" tIns="136000">
            <a:noAutofit/>
          </a:bodyPr>
          <a:lstStyle/>
          <a:p>
            <a:pPr indent="0" lvl="0" marL="0" marR="0" rtl="0" algn="l">
              <a:lnSpc>
                <a:spcPct val="13353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82.72</a:t>
            </a:r>
            <a:endParaRPr b="0" i="0" sz="674" u="none" cap="none" strike="noStrike">
              <a:solidFill>
                <a:schemeClr val="dk1"/>
              </a:solidFill>
              <a:latin typeface="Calibri"/>
              <a:ea typeface="Calibri"/>
              <a:cs typeface="Calibri"/>
              <a:sym typeface="Calibri"/>
            </a:endParaRPr>
          </a:p>
        </p:txBody>
      </p:sp>
      <p:sp>
        <p:nvSpPr>
          <p:cNvPr id="170" name="Google Shape;170;p11"/>
          <p:cNvSpPr/>
          <p:nvPr/>
        </p:nvSpPr>
        <p:spPr>
          <a:xfrm>
            <a:off x="2243138" y="2858505"/>
            <a:ext cx="207308"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RNN</a:t>
            </a:r>
            <a:endParaRPr b="0" i="0" sz="634" u="none" cap="none" strike="noStrike">
              <a:solidFill>
                <a:schemeClr val="dk1"/>
              </a:solidFill>
              <a:latin typeface="Calibri"/>
              <a:ea typeface="Calibri"/>
              <a:cs typeface="Calibri"/>
              <a:sym typeface="Calibri"/>
            </a:endParaRPr>
          </a:p>
        </p:txBody>
      </p:sp>
      <p:sp>
        <p:nvSpPr>
          <p:cNvPr id="171" name="Google Shape;171;p11"/>
          <p:cNvSpPr/>
          <p:nvPr/>
        </p:nvSpPr>
        <p:spPr>
          <a:xfrm>
            <a:off x="3634160" y="2740633"/>
            <a:ext cx="1756609" cy="358973"/>
          </a:xfrm>
          <a:prstGeom prst="rect">
            <a:avLst/>
          </a:prstGeom>
          <a:noFill/>
          <a:ln>
            <a:noFill/>
          </a:ln>
        </p:spPr>
        <p:txBody>
          <a:bodyPr anchorCtr="0" anchor="ctr" bIns="136000" lIns="204075" spcFirstLastPara="1" rIns="204075" wrap="square" tIns="136000">
            <a:noAutofit/>
          </a:bodyPr>
          <a:lstStyle/>
          <a:p>
            <a:pPr indent="0" lvl="0" marL="0" marR="0" rtl="0" algn="l">
              <a:lnSpc>
                <a:spcPct val="13353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80.73</a:t>
            </a:r>
            <a:endParaRPr b="0" i="0" sz="674" u="none" cap="none" strike="noStrike">
              <a:solidFill>
                <a:schemeClr val="dk1"/>
              </a:solidFill>
              <a:latin typeface="Calibri"/>
              <a:ea typeface="Calibri"/>
              <a:cs typeface="Calibri"/>
              <a:sym typeface="Calibri"/>
            </a:endParaRPr>
          </a:p>
        </p:txBody>
      </p:sp>
      <p:sp>
        <p:nvSpPr>
          <p:cNvPr id="172" name="Google Shape;172;p11"/>
          <p:cNvSpPr/>
          <p:nvPr/>
        </p:nvSpPr>
        <p:spPr>
          <a:xfrm>
            <a:off x="5390769" y="2740633"/>
            <a:ext cx="1681544" cy="358973"/>
          </a:xfrm>
          <a:prstGeom prst="rect">
            <a:avLst/>
          </a:prstGeom>
          <a:noFill/>
          <a:ln>
            <a:noFill/>
          </a:ln>
        </p:spPr>
        <p:txBody>
          <a:bodyPr anchorCtr="0" anchor="ctr" bIns="136000" lIns="204075" spcFirstLastPara="1" rIns="204075" wrap="square" tIns="136000">
            <a:noAutofit/>
          </a:bodyPr>
          <a:lstStyle/>
          <a:p>
            <a:pPr indent="0" lvl="0" marL="0" marR="0" rtl="0" algn="l">
              <a:lnSpc>
                <a:spcPct val="13353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80.62</a:t>
            </a:r>
            <a:endParaRPr b="0" i="0" sz="674" u="none" cap="none" strike="noStrike">
              <a:solidFill>
                <a:schemeClr val="dk1"/>
              </a:solidFill>
              <a:latin typeface="Calibri"/>
              <a:ea typeface="Calibri"/>
              <a:cs typeface="Calibri"/>
              <a:sym typeface="Calibri"/>
            </a:endParaRPr>
          </a:p>
        </p:txBody>
      </p:sp>
      <p:sp>
        <p:nvSpPr>
          <p:cNvPr id="173" name="Google Shape;173;p11"/>
          <p:cNvSpPr/>
          <p:nvPr/>
        </p:nvSpPr>
        <p:spPr>
          <a:xfrm>
            <a:off x="571500" y="3371069"/>
            <a:ext cx="5715000" cy="938622"/>
          </a:xfrm>
          <a:prstGeom prst="rect">
            <a:avLst/>
          </a:prstGeom>
          <a:solidFill>
            <a:srgbClr val="0044CC">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a:off x="571500" y="3371069"/>
            <a:ext cx="28575" cy="938622"/>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p:cNvSpPr/>
          <p:nvPr/>
        </p:nvSpPr>
        <p:spPr>
          <a:xfrm>
            <a:off x="714375" y="3513944"/>
            <a:ext cx="5429250" cy="135731"/>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44CC"/>
              </a:buClr>
              <a:buSzPts val="683"/>
              <a:buFont typeface="Calibri"/>
              <a:buNone/>
            </a:pPr>
            <a:r>
              <a:rPr b="1" i="0" lang="en-US" sz="683" u="none" cap="none" strike="noStrike">
                <a:solidFill>
                  <a:srgbClr val="0044CC"/>
                </a:solidFill>
                <a:latin typeface="Calibri"/>
                <a:ea typeface="Calibri"/>
                <a:cs typeface="Calibri"/>
                <a:sym typeface="Calibri"/>
              </a:rPr>
              <a:t>Key Observations</a:t>
            </a:r>
            <a:endParaRPr b="0" i="0" sz="683" u="none" cap="none" strike="noStrike">
              <a:solidFill>
                <a:schemeClr val="dk1"/>
              </a:solidFill>
              <a:latin typeface="Calibri"/>
              <a:ea typeface="Calibri"/>
              <a:cs typeface="Calibri"/>
              <a:sym typeface="Calibri"/>
            </a:endParaRPr>
          </a:p>
        </p:txBody>
      </p:sp>
      <p:sp>
        <p:nvSpPr>
          <p:cNvPr id="176" name="Google Shape;176;p11"/>
          <p:cNvSpPr/>
          <p:nvPr/>
        </p:nvSpPr>
        <p:spPr>
          <a:xfrm>
            <a:off x="714375" y="3721112"/>
            <a:ext cx="5429250" cy="445703"/>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34"/>
              <a:buFont typeface="Calibri"/>
              <a:buNone/>
            </a:pPr>
            <a:r>
              <a:rPr b="1" i="0" lang="en-US" sz="634" u="none" cap="none" strike="noStrike">
                <a:solidFill>
                  <a:srgbClr val="333333"/>
                </a:solidFill>
                <a:latin typeface="Calibri"/>
                <a:ea typeface="Calibri"/>
                <a:cs typeface="Calibri"/>
                <a:sym typeface="Calibri"/>
              </a:rPr>
              <a:t>GRU vs. LSTM:</a:t>
            </a:r>
            <a:r>
              <a:rPr b="0" i="0" lang="en-US" sz="674" u="none" cap="none" strike="noStrike">
                <a:solidFill>
                  <a:srgbClr val="333333"/>
                </a:solidFill>
                <a:latin typeface="Calibri"/>
                <a:ea typeface="Calibri"/>
                <a:cs typeface="Calibri"/>
                <a:sym typeface="Calibri"/>
              </a:rPr>
              <a:t> The GRU's 0.18% accuracy advantage over LSTM, combined with its simpler architecture and faster training time, makes it the optimal choice. </a:t>
            </a:r>
            <a:r>
              <a:rPr b="1" i="0" lang="en-US" sz="634" u="none" cap="none" strike="noStrike">
                <a:solidFill>
                  <a:srgbClr val="333333"/>
                </a:solidFill>
                <a:latin typeface="Calibri"/>
                <a:ea typeface="Calibri"/>
                <a:cs typeface="Calibri"/>
                <a:sym typeface="Calibri"/>
              </a:rPr>
              <a:t>GRU vs. RNN:</a:t>
            </a:r>
            <a:r>
              <a:rPr b="0" i="0" lang="en-US" sz="674" u="none" cap="none" strike="noStrike">
                <a:solidFill>
                  <a:srgbClr val="333333"/>
                </a:solidFill>
                <a:latin typeface="Calibri"/>
                <a:ea typeface="Calibri"/>
                <a:cs typeface="Calibri"/>
                <a:sym typeface="Calibri"/>
              </a:rPr>
              <a:t> The 2.28% accuracy gap between GRU and RNN validates the critical importance of gating mechanisms for handling long-term dependencies in sentiment analysis.</a:t>
            </a:r>
            <a:endParaRPr b="0" i="0" sz="634"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2" title="Screenshot from 2025-12-22 19-47-42.png"/>
          <p:cNvPicPr preferRelativeResize="0"/>
          <p:nvPr/>
        </p:nvPicPr>
        <p:blipFill rotWithShape="1">
          <a:blip r:embed="rId3">
            <a:alphaModFix/>
          </a:blip>
          <a:srcRect b="0" l="0" r="0" t="0"/>
          <a:stretch/>
        </p:blipFill>
        <p:spPr>
          <a:xfrm>
            <a:off x="332475" y="1514750"/>
            <a:ext cx="3991678" cy="1608975"/>
          </a:xfrm>
          <a:prstGeom prst="rect">
            <a:avLst/>
          </a:prstGeom>
          <a:noFill/>
          <a:ln>
            <a:noFill/>
          </a:ln>
        </p:spPr>
      </p:pic>
      <p:sp>
        <p:nvSpPr>
          <p:cNvPr id="183" name="Google Shape;183;p12"/>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Training Stability and Convergence</a:t>
            </a:r>
            <a:endParaRPr b="0" i="0" sz="987" u="none" cap="none" strike="noStrike">
              <a:solidFill>
                <a:schemeClr val="dk1"/>
              </a:solidFill>
              <a:latin typeface="Calibri"/>
              <a:ea typeface="Calibri"/>
              <a:cs typeface="Calibri"/>
              <a:sym typeface="Calibri"/>
            </a:endParaRPr>
          </a:p>
        </p:txBody>
      </p:sp>
      <p:sp>
        <p:nvSpPr>
          <p:cNvPr id="184" name="Google Shape;184;p12"/>
          <p:cNvSpPr/>
          <p:nvPr/>
        </p:nvSpPr>
        <p:spPr>
          <a:xfrm>
            <a:off x="571500" y="837605"/>
            <a:ext cx="7143750" cy="160009"/>
          </a:xfrm>
          <a:prstGeom prst="rect">
            <a:avLst/>
          </a:prstGeom>
          <a:noFill/>
          <a:ln>
            <a:noFill/>
          </a:ln>
        </p:spPr>
        <p:txBody>
          <a:bodyPr anchorCtr="0" anchor="t" bIns="0" lIns="0" spcFirstLastPara="1" rIns="0" wrap="square" tIns="0">
            <a:noAutofit/>
          </a:bodyPr>
          <a:lstStyle/>
          <a:p>
            <a:pPr indent="0" lvl="0" marL="0" marR="0" rtl="0" algn="l">
              <a:lnSpc>
                <a:spcPct val="190336"/>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Understanding Loss and Accuracy Curves</a:t>
            </a:r>
            <a:endParaRPr b="0" i="0" sz="683" u="none" cap="none" strike="noStrike">
              <a:solidFill>
                <a:schemeClr val="dk1"/>
              </a:solidFill>
              <a:latin typeface="Calibri"/>
              <a:ea typeface="Calibri"/>
              <a:cs typeface="Calibri"/>
              <a:sym typeface="Calibri"/>
            </a:endParaRPr>
          </a:p>
        </p:txBody>
      </p:sp>
      <p:sp>
        <p:nvSpPr>
          <p:cNvPr id="185" name="Google Shape;185;p12"/>
          <p:cNvSpPr/>
          <p:nvPr/>
        </p:nvSpPr>
        <p:spPr>
          <a:xfrm>
            <a:off x="571500" y="1069051"/>
            <a:ext cx="7143750" cy="445703"/>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34"/>
              <a:buFont typeface="Calibri"/>
              <a:buNone/>
            </a:pPr>
            <a:r>
              <a:rPr b="1" i="0" lang="en-US" sz="634" u="none" cap="none" strike="noStrike">
                <a:solidFill>
                  <a:srgbClr val="333333"/>
                </a:solidFill>
                <a:latin typeface="Calibri"/>
                <a:ea typeface="Calibri"/>
                <a:cs typeface="Calibri"/>
                <a:sym typeface="Calibri"/>
              </a:rPr>
              <a:t>Loss Curves:</a:t>
            </a:r>
            <a:r>
              <a:rPr b="0" i="0" lang="en-US" sz="674" u="none" cap="none" strike="noStrike">
                <a:solidFill>
                  <a:srgbClr val="333333"/>
                </a:solidFill>
                <a:latin typeface="Calibri"/>
                <a:ea typeface="Calibri"/>
                <a:cs typeface="Calibri"/>
                <a:sym typeface="Calibri"/>
              </a:rPr>
              <a:t> Show how quickly the model learns and stabilizes. A decreasing loss indicates the model is improving. </a:t>
            </a:r>
            <a:r>
              <a:rPr b="1" i="0" lang="en-US" sz="634" u="none" cap="none" strike="noStrike">
                <a:solidFill>
                  <a:srgbClr val="333333"/>
                </a:solidFill>
                <a:latin typeface="Calibri"/>
                <a:ea typeface="Calibri"/>
                <a:cs typeface="Calibri"/>
                <a:sym typeface="Calibri"/>
              </a:rPr>
              <a:t>Accuracy Curves:</a:t>
            </a:r>
            <a:r>
              <a:rPr b="0" i="0" lang="en-US" sz="674" u="none" cap="none" strike="noStrike">
                <a:solidFill>
                  <a:srgbClr val="333333"/>
                </a:solidFill>
                <a:latin typeface="Calibri"/>
                <a:ea typeface="Calibri"/>
                <a:cs typeface="Calibri"/>
                <a:sym typeface="Calibri"/>
              </a:rPr>
              <a:t> Show the model's performance on both training and validation data over epochs. We expect both curves to converge and show minimal gap between training and validation, indicating good generalization.</a:t>
            </a:r>
            <a:endParaRPr b="0" i="0" sz="634" u="none" cap="none" strike="noStrike">
              <a:solidFill>
                <a:schemeClr val="dk1"/>
              </a:solidFill>
              <a:latin typeface="Calibri"/>
              <a:ea typeface="Calibri"/>
              <a:cs typeface="Calibri"/>
              <a:sym typeface="Calibri"/>
            </a:endParaRPr>
          </a:p>
        </p:txBody>
      </p:sp>
      <p:pic>
        <p:nvPicPr>
          <p:cNvPr id="186" name="Google Shape;186;p12" title="Screenshot from 2025-12-22 19-47-58.png"/>
          <p:cNvPicPr preferRelativeResize="0"/>
          <p:nvPr/>
        </p:nvPicPr>
        <p:blipFill>
          <a:blip r:embed="rId4">
            <a:alphaModFix/>
          </a:blip>
          <a:stretch>
            <a:fillRect/>
          </a:stretch>
        </p:blipFill>
        <p:spPr>
          <a:xfrm>
            <a:off x="2001450" y="3325200"/>
            <a:ext cx="4912089" cy="1633350"/>
          </a:xfrm>
          <a:prstGeom prst="rect">
            <a:avLst/>
          </a:prstGeom>
          <a:noFill/>
          <a:ln>
            <a:noFill/>
          </a:ln>
        </p:spPr>
      </p:pic>
      <p:pic>
        <p:nvPicPr>
          <p:cNvPr id="187" name="Google Shape;187;p12" title="Screenshot from 2025-12-22 19-48-30.png"/>
          <p:cNvPicPr preferRelativeResize="0"/>
          <p:nvPr/>
        </p:nvPicPr>
        <p:blipFill>
          <a:blip r:embed="rId5">
            <a:alphaModFix/>
          </a:blip>
          <a:stretch>
            <a:fillRect/>
          </a:stretch>
        </p:blipFill>
        <p:spPr>
          <a:xfrm>
            <a:off x="4778875" y="1455900"/>
            <a:ext cx="3834849" cy="1608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descr="preencoded.png" id="193" name="Google Shape;193;p13"/>
          <p:cNvPicPr preferRelativeResize="0"/>
          <p:nvPr/>
        </p:nvPicPr>
        <p:blipFill rotWithShape="1">
          <a:blip r:embed="rId3">
            <a:alphaModFix/>
          </a:blip>
          <a:srcRect b="0" l="0" r="0" t="0"/>
          <a:stretch/>
        </p:blipFill>
        <p:spPr>
          <a:xfrm>
            <a:off x="0" y="0"/>
            <a:ext cx="9144000" cy="5201655"/>
          </a:xfrm>
          <a:prstGeom prst="rect">
            <a:avLst/>
          </a:prstGeom>
          <a:noFill/>
          <a:ln>
            <a:noFill/>
          </a:ln>
        </p:spPr>
      </p:pic>
      <p:sp>
        <p:nvSpPr>
          <p:cNvPr id="194" name="Google Shape;194;p13"/>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Detailed Classification Breakdown</a:t>
            </a:r>
            <a:endParaRPr b="0" i="0" sz="987" u="none" cap="none" strike="noStrike">
              <a:solidFill>
                <a:schemeClr val="dk1"/>
              </a:solidFill>
              <a:latin typeface="Calibri"/>
              <a:ea typeface="Calibri"/>
              <a:cs typeface="Calibri"/>
              <a:sym typeface="Calibri"/>
            </a:endParaRPr>
          </a:p>
        </p:txBody>
      </p:sp>
      <p:sp>
        <p:nvSpPr>
          <p:cNvPr id="195" name="Google Shape;195;p13"/>
          <p:cNvSpPr/>
          <p:nvPr/>
        </p:nvSpPr>
        <p:spPr>
          <a:xfrm>
            <a:off x="571500" y="909042"/>
            <a:ext cx="3821906" cy="221456"/>
          </a:xfrm>
          <a:prstGeom prst="rect">
            <a:avLst/>
          </a:prstGeom>
          <a:noFill/>
          <a:ln>
            <a:noFill/>
          </a:ln>
        </p:spPr>
        <p:txBody>
          <a:bodyPr anchorCtr="0" anchor="t" bIns="85075"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What is a Confusion Matrix?</a:t>
            </a:r>
            <a:endParaRPr b="0" i="0" sz="683" u="none" cap="none" strike="noStrike">
              <a:solidFill>
                <a:schemeClr val="dk1"/>
              </a:solidFill>
              <a:latin typeface="Calibri"/>
              <a:ea typeface="Calibri"/>
              <a:cs typeface="Calibri"/>
              <a:sym typeface="Calibri"/>
            </a:endParaRPr>
          </a:p>
        </p:txBody>
      </p:sp>
      <p:sp>
        <p:nvSpPr>
          <p:cNvPr id="196" name="Google Shape;196;p13"/>
          <p:cNvSpPr/>
          <p:nvPr/>
        </p:nvSpPr>
        <p:spPr>
          <a:xfrm>
            <a:off x="571500" y="1237655"/>
            <a:ext cx="3821906" cy="445703"/>
          </a:xfrm>
          <a:prstGeom prst="rect">
            <a:avLst/>
          </a:prstGeom>
          <a:noFill/>
          <a:ln>
            <a:noFill/>
          </a:ln>
        </p:spPr>
        <p:txBody>
          <a:bodyPr anchorCtr="0" anchor="t" bIns="0" lIns="12750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A confusion matrix provides a detailed breakdown of the classification results, showing the number of correct and incorrect predictions for each class. It is essential for understanding model performance beyond simple accuracy metrics.</a:t>
            </a:r>
            <a:endParaRPr b="0" i="0" sz="674" u="none" cap="none" strike="noStrike">
              <a:solidFill>
                <a:schemeClr val="dk1"/>
              </a:solidFill>
              <a:latin typeface="Calibri"/>
              <a:ea typeface="Calibri"/>
              <a:cs typeface="Calibri"/>
              <a:sym typeface="Calibri"/>
            </a:endParaRPr>
          </a:p>
        </p:txBody>
      </p:sp>
      <p:sp>
        <p:nvSpPr>
          <p:cNvPr id="197" name="Google Shape;197;p13"/>
          <p:cNvSpPr/>
          <p:nvPr/>
        </p:nvSpPr>
        <p:spPr>
          <a:xfrm>
            <a:off x="571500" y="1861951"/>
            <a:ext cx="3821906" cy="221456"/>
          </a:xfrm>
          <a:prstGeom prst="rect">
            <a:avLst/>
          </a:prstGeom>
          <a:noFill/>
          <a:ln>
            <a:noFill/>
          </a:ln>
        </p:spPr>
        <p:txBody>
          <a:bodyPr anchorCtr="0" anchor="t" bIns="85075"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Key Metrics</a:t>
            </a:r>
            <a:endParaRPr b="0" i="0" sz="683" u="none" cap="none" strike="noStrike">
              <a:solidFill>
                <a:schemeClr val="dk1"/>
              </a:solidFill>
              <a:latin typeface="Calibri"/>
              <a:ea typeface="Calibri"/>
              <a:cs typeface="Calibri"/>
              <a:sym typeface="Calibri"/>
            </a:endParaRPr>
          </a:p>
        </p:txBody>
      </p:sp>
      <p:sp>
        <p:nvSpPr>
          <p:cNvPr id="198" name="Google Shape;198;p13"/>
          <p:cNvSpPr/>
          <p:nvPr/>
        </p:nvSpPr>
        <p:spPr>
          <a:xfrm>
            <a:off x="571500" y="2190564"/>
            <a:ext cx="1857375" cy="63043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3"/>
          <p:cNvSpPr/>
          <p:nvPr/>
        </p:nvSpPr>
        <p:spPr>
          <a:xfrm>
            <a:off x="571500" y="2190564"/>
            <a:ext cx="28575" cy="630436"/>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3"/>
          <p:cNvSpPr/>
          <p:nvPr/>
        </p:nvSpPr>
        <p:spPr>
          <a:xfrm>
            <a:off x="678656" y="2297720"/>
            <a:ext cx="1643063"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044CC"/>
              </a:buClr>
              <a:buSzPts val="584"/>
              <a:buFont typeface="Calibri"/>
              <a:buNone/>
            </a:pPr>
            <a:r>
              <a:rPr b="1" i="0" lang="en-US" sz="584" u="none" cap="none" strike="noStrike">
                <a:solidFill>
                  <a:srgbClr val="0044CC"/>
                </a:solidFill>
                <a:latin typeface="Calibri"/>
                <a:ea typeface="Calibri"/>
                <a:cs typeface="Calibri"/>
                <a:sym typeface="Calibri"/>
              </a:rPr>
              <a:t>TP</a:t>
            </a:r>
            <a:endParaRPr b="0" i="0" sz="584" u="none" cap="none" strike="noStrike">
              <a:solidFill>
                <a:schemeClr val="dk1"/>
              </a:solidFill>
              <a:latin typeface="Calibri"/>
              <a:ea typeface="Calibri"/>
              <a:cs typeface="Calibri"/>
              <a:sym typeface="Calibri"/>
            </a:endParaRPr>
          </a:p>
        </p:txBody>
      </p:sp>
      <p:sp>
        <p:nvSpPr>
          <p:cNvPr id="201" name="Google Shape;201;p13"/>
          <p:cNvSpPr/>
          <p:nvPr/>
        </p:nvSpPr>
        <p:spPr>
          <a:xfrm>
            <a:off x="678656" y="2456669"/>
            <a:ext cx="1643063" cy="257175"/>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666666"/>
              </a:buClr>
              <a:buSzPts val="621"/>
              <a:buFont typeface="Calibri"/>
              <a:buNone/>
            </a:pPr>
            <a:r>
              <a:rPr b="0" i="0" lang="en-US" sz="621" u="none" cap="none" strike="noStrike">
                <a:solidFill>
                  <a:srgbClr val="666666"/>
                </a:solidFill>
                <a:latin typeface="Calibri"/>
                <a:ea typeface="Calibri"/>
                <a:cs typeface="Calibri"/>
                <a:sym typeface="Calibri"/>
              </a:rPr>
              <a:t>True Positives: Correctly predicted positive sentiments.</a:t>
            </a:r>
            <a:endParaRPr b="0" i="0" sz="621" u="none" cap="none" strike="noStrike">
              <a:solidFill>
                <a:schemeClr val="dk1"/>
              </a:solidFill>
              <a:latin typeface="Calibri"/>
              <a:ea typeface="Calibri"/>
              <a:cs typeface="Calibri"/>
              <a:sym typeface="Calibri"/>
            </a:endParaRPr>
          </a:p>
        </p:txBody>
      </p:sp>
      <p:sp>
        <p:nvSpPr>
          <p:cNvPr id="202" name="Google Shape;202;p13"/>
          <p:cNvSpPr/>
          <p:nvPr/>
        </p:nvSpPr>
        <p:spPr>
          <a:xfrm>
            <a:off x="2536031" y="2190564"/>
            <a:ext cx="1857375" cy="63043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3"/>
          <p:cNvSpPr/>
          <p:nvPr/>
        </p:nvSpPr>
        <p:spPr>
          <a:xfrm>
            <a:off x="2536031" y="2190564"/>
            <a:ext cx="28575" cy="630436"/>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3"/>
          <p:cNvSpPr/>
          <p:nvPr/>
        </p:nvSpPr>
        <p:spPr>
          <a:xfrm>
            <a:off x="2643188" y="2297720"/>
            <a:ext cx="1643063"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044CC"/>
              </a:buClr>
              <a:buSzPts val="584"/>
              <a:buFont typeface="Calibri"/>
              <a:buNone/>
            </a:pPr>
            <a:r>
              <a:rPr b="1" i="0" lang="en-US" sz="584" u="none" cap="none" strike="noStrike">
                <a:solidFill>
                  <a:srgbClr val="0044CC"/>
                </a:solidFill>
                <a:latin typeface="Calibri"/>
                <a:ea typeface="Calibri"/>
                <a:cs typeface="Calibri"/>
                <a:sym typeface="Calibri"/>
              </a:rPr>
              <a:t>TN</a:t>
            </a:r>
            <a:endParaRPr b="0" i="0" sz="584" u="none" cap="none" strike="noStrike">
              <a:solidFill>
                <a:schemeClr val="dk1"/>
              </a:solidFill>
              <a:latin typeface="Calibri"/>
              <a:ea typeface="Calibri"/>
              <a:cs typeface="Calibri"/>
              <a:sym typeface="Calibri"/>
            </a:endParaRPr>
          </a:p>
        </p:txBody>
      </p:sp>
      <p:sp>
        <p:nvSpPr>
          <p:cNvPr id="205" name="Google Shape;205;p13"/>
          <p:cNvSpPr/>
          <p:nvPr/>
        </p:nvSpPr>
        <p:spPr>
          <a:xfrm>
            <a:off x="2643188" y="2456669"/>
            <a:ext cx="1643063" cy="257175"/>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666666"/>
              </a:buClr>
              <a:buSzPts val="621"/>
              <a:buFont typeface="Calibri"/>
              <a:buNone/>
            </a:pPr>
            <a:r>
              <a:rPr b="0" i="0" lang="en-US" sz="621" u="none" cap="none" strike="noStrike">
                <a:solidFill>
                  <a:srgbClr val="666666"/>
                </a:solidFill>
                <a:latin typeface="Calibri"/>
                <a:ea typeface="Calibri"/>
                <a:cs typeface="Calibri"/>
                <a:sym typeface="Calibri"/>
              </a:rPr>
              <a:t>True Negatives: Correctly predicted negative sentiments.</a:t>
            </a:r>
            <a:endParaRPr b="0" i="0" sz="621" u="none" cap="none" strike="noStrike">
              <a:solidFill>
                <a:schemeClr val="dk1"/>
              </a:solidFill>
              <a:latin typeface="Calibri"/>
              <a:ea typeface="Calibri"/>
              <a:cs typeface="Calibri"/>
              <a:sym typeface="Calibri"/>
            </a:endParaRPr>
          </a:p>
        </p:txBody>
      </p:sp>
      <p:sp>
        <p:nvSpPr>
          <p:cNvPr id="206" name="Google Shape;206;p13"/>
          <p:cNvSpPr/>
          <p:nvPr/>
        </p:nvSpPr>
        <p:spPr>
          <a:xfrm>
            <a:off x="571500" y="2928156"/>
            <a:ext cx="1857375" cy="63043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3"/>
          <p:cNvSpPr/>
          <p:nvPr/>
        </p:nvSpPr>
        <p:spPr>
          <a:xfrm>
            <a:off x="571500" y="2928156"/>
            <a:ext cx="28575" cy="630436"/>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3"/>
          <p:cNvSpPr/>
          <p:nvPr/>
        </p:nvSpPr>
        <p:spPr>
          <a:xfrm>
            <a:off x="678656" y="3035312"/>
            <a:ext cx="1643063"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044CC"/>
              </a:buClr>
              <a:buSzPts val="584"/>
              <a:buFont typeface="Calibri"/>
              <a:buNone/>
            </a:pPr>
            <a:r>
              <a:rPr b="1" i="0" lang="en-US" sz="584" u="none" cap="none" strike="noStrike">
                <a:solidFill>
                  <a:srgbClr val="0044CC"/>
                </a:solidFill>
                <a:latin typeface="Calibri"/>
                <a:ea typeface="Calibri"/>
                <a:cs typeface="Calibri"/>
                <a:sym typeface="Calibri"/>
              </a:rPr>
              <a:t>FP</a:t>
            </a:r>
            <a:endParaRPr b="0" i="0" sz="584" u="none" cap="none" strike="noStrike">
              <a:solidFill>
                <a:schemeClr val="dk1"/>
              </a:solidFill>
              <a:latin typeface="Calibri"/>
              <a:ea typeface="Calibri"/>
              <a:cs typeface="Calibri"/>
              <a:sym typeface="Calibri"/>
            </a:endParaRPr>
          </a:p>
        </p:txBody>
      </p:sp>
      <p:sp>
        <p:nvSpPr>
          <p:cNvPr id="209" name="Google Shape;209;p13"/>
          <p:cNvSpPr/>
          <p:nvPr/>
        </p:nvSpPr>
        <p:spPr>
          <a:xfrm>
            <a:off x="678656" y="3194261"/>
            <a:ext cx="1643063" cy="257175"/>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666666"/>
              </a:buClr>
              <a:buSzPts val="621"/>
              <a:buFont typeface="Calibri"/>
              <a:buNone/>
            </a:pPr>
            <a:r>
              <a:rPr b="0" i="0" lang="en-US" sz="621" u="none" cap="none" strike="noStrike">
                <a:solidFill>
                  <a:srgbClr val="666666"/>
                </a:solidFill>
                <a:latin typeface="Calibri"/>
                <a:ea typeface="Calibri"/>
                <a:cs typeface="Calibri"/>
                <a:sym typeface="Calibri"/>
              </a:rPr>
              <a:t>False Positives: Incorrectly predicted as positive.</a:t>
            </a:r>
            <a:endParaRPr b="0" i="0" sz="621" u="none" cap="none" strike="noStrike">
              <a:solidFill>
                <a:schemeClr val="dk1"/>
              </a:solidFill>
              <a:latin typeface="Calibri"/>
              <a:ea typeface="Calibri"/>
              <a:cs typeface="Calibri"/>
              <a:sym typeface="Calibri"/>
            </a:endParaRPr>
          </a:p>
        </p:txBody>
      </p:sp>
      <p:sp>
        <p:nvSpPr>
          <p:cNvPr id="210" name="Google Shape;210;p13"/>
          <p:cNvSpPr/>
          <p:nvPr/>
        </p:nvSpPr>
        <p:spPr>
          <a:xfrm>
            <a:off x="2536031" y="2928156"/>
            <a:ext cx="1857375" cy="63043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3"/>
          <p:cNvSpPr/>
          <p:nvPr/>
        </p:nvSpPr>
        <p:spPr>
          <a:xfrm>
            <a:off x="2536031" y="2928156"/>
            <a:ext cx="28575" cy="630436"/>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3"/>
          <p:cNvSpPr/>
          <p:nvPr/>
        </p:nvSpPr>
        <p:spPr>
          <a:xfrm>
            <a:off x="2643188" y="3035312"/>
            <a:ext cx="1643063" cy="116086"/>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044CC"/>
              </a:buClr>
              <a:buSzPts val="584"/>
              <a:buFont typeface="Calibri"/>
              <a:buNone/>
            </a:pPr>
            <a:r>
              <a:rPr b="1" i="0" lang="en-US" sz="584" u="none" cap="none" strike="noStrike">
                <a:solidFill>
                  <a:srgbClr val="0044CC"/>
                </a:solidFill>
                <a:latin typeface="Calibri"/>
                <a:ea typeface="Calibri"/>
                <a:cs typeface="Calibri"/>
                <a:sym typeface="Calibri"/>
              </a:rPr>
              <a:t>FN</a:t>
            </a:r>
            <a:endParaRPr b="0" i="0" sz="584" u="none" cap="none" strike="noStrike">
              <a:solidFill>
                <a:schemeClr val="dk1"/>
              </a:solidFill>
              <a:latin typeface="Calibri"/>
              <a:ea typeface="Calibri"/>
              <a:cs typeface="Calibri"/>
              <a:sym typeface="Calibri"/>
            </a:endParaRPr>
          </a:p>
        </p:txBody>
      </p:sp>
      <p:sp>
        <p:nvSpPr>
          <p:cNvPr id="213" name="Google Shape;213;p13"/>
          <p:cNvSpPr/>
          <p:nvPr/>
        </p:nvSpPr>
        <p:spPr>
          <a:xfrm>
            <a:off x="2643188" y="3194261"/>
            <a:ext cx="1643063" cy="257175"/>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666666"/>
              </a:buClr>
              <a:buSzPts val="621"/>
              <a:buFont typeface="Calibri"/>
              <a:buNone/>
            </a:pPr>
            <a:r>
              <a:rPr b="0" i="0" lang="en-US" sz="621" u="none" cap="none" strike="noStrike">
                <a:solidFill>
                  <a:srgbClr val="666666"/>
                </a:solidFill>
                <a:latin typeface="Calibri"/>
                <a:ea typeface="Calibri"/>
                <a:cs typeface="Calibri"/>
                <a:sym typeface="Calibri"/>
              </a:rPr>
              <a:t>False Negatives: Incorrectly predicted as negative.</a:t>
            </a:r>
            <a:endParaRPr b="0" i="0" sz="621" u="none" cap="none" strike="noStrike">
              <a:solidFill>
                <a:schemeClr val="dk1"/>
              </a:solidFill>
              <a:latin typeface="Calibri"/>
              <a:ea typeface="Calibri"/>
              <a:cs typeface="Calibri"/>
              <a:sym typeface="Calibri"/>
            </a:endParaRPr>
          </a:p>
        </p:txBody>
      </p:sp>
      <p:sp>
        <p:nvSpPr>
          <p:cNvPr id="214" name="Google Shape;214;p13"/>
          <p:cNvSpPr/>
          <p:nvPr/>
        </p:nvSpPr>
        <p:spPr>
          <a:xfrm>
            <a:off x="4750594" y="909042"/>
            <a:ext cx="3821906" cy="695399"/>
          </a:xfrm>
          <a:prstGeom prst="rect">
            <a:avLst/>
          </a:prstGeom>
          <a:solidFill>
            <a:srgbClr val="0044CC">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3"/>
          <p:cNvSpPr/>
          <p:nvPr/>
        </p:nvSpPr>
        <p:spPr>
          <a:xfrm>
            <a:off x="4750594" y="909042"/>
            <a:ext cx="28575" cy="695399"/>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3"/>
          <p:cNvSpPr/>
          <p:nvPr/>
        </p:nvSpPr>
        <p:spPr>
          <a:xfrm>
            <a:off x="4857750" y="1016198"/>
            <a:ext cx="3607594"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44CC"/>
              </a:buClr>
              <a:buSzPts val="634"/>
              <a:buFont typeface="Calibri"/>
              <a:buNone/>
            </a:pPr>
            <a:r>
              <a:rPr b="1" i="0" lang="en-US" sz="634" u="none" cap="none" strike="noStrike">
                <a:solidFill>
                  <a:srgbClr val="0044CC"/>
                </a:solidFill>
                <a:latin typeface="Calibri"/>
                <a:ea typeface="Calibri"/>
                <a:cs typeface="Calibri"/>
                <a:sym typeface="Calibri"/>
              </a:rPr>
              <a:t>Primary Goal</a:t>
            </a:r>
            <a:endParaRPr b="0" i="0" sz="634" u="none" cap="none" strike="noStrike">
              <a:solidFill>
                <a:schemeClr val="dk1"/>
              </a:solidFill>
              <a:latin typeface="Calibri"/>
              <a:ea typeface="Calibri"/>
              <a:cs typeface="Calibri"/>
              <a:sym typeface="Calibri"/>
            </a:endParaRPr>
          </a:p>
        </p:txBody>
      </p:sp>
      <p:sp>
        <p:nvSpPr>
          <p:cNvPr id="217" name="Google Shape;217;p13"/>
          <p:cNvSpPr/>
          <p:nvPr/>
        </p:nvSpPr>
        <p:spPr>
          <a:xfrm>
            <a:off x="4857750" y="1200150"/>
            <a:ext cx="3607594" cy="297135"/>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0" lang="en-US" sz="674" u="none" cap="none" strike="noStrike">
                <a:solidFill>
                  <a:srgbClr val="333333"/>
                </a:solidFill>
                <a:latin typeface="Calibri"/>
                <a:ea typeface="Calibri"/>
                <a:cs typeface="Calibri"/>
                <a:sym typeface="Calibri"/>
              </a:rPr>
              <a:t>Maximize the diagonal values (TP and TN) and minimize the off-diagonal values (FP and FN). A perfect classifier would have all predictions on the main diagonal.</a:t>
            </a:r>
            <a:endParaRPr b="0" i="0" sz="674" u="none" cap="none" strike="noStrike">
              <a:solidFill>
                <a:schemeClr val="dk1"/>
              </a:solidFill>
              <a:latin typeface="Calibri"/>
              <a:ea typeface="Calibri"/>
              <a:cs typeface="Calibri"/>
              <a:sym typeface="Calibri"/>
            </a:endParaRPr>
          </a:p>
        </p:txBody>
      </p:sp>
      <p:sp>
        <p:nvSpPr>
          <p:cNvPr id="218" name="Google Shape;218;p13"/>
          <p:cNvSpPr/>
          <p:nvPr/>
        </p:nvSpPr>
        <p:spPr>
          <a:xfrm>
            <a:off x="4750594" y="1747317"/>
            <a:ext cx="3821906" cy="221456"/>
          </a:xfrm>
          <a:prstGeom prst="rect">
            <a:avLst/>
          </a:prstGeom>
          <a:noFill/>
          <a:ln>
            <a:noFill/>
          </a:ln>
        </p:spPr>
        <p:txBody>
          <a:bodyPr anchorCtr="0" anchor="t" bIns="85075"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Expected Observations</a:t>
            </a:r>
            <a:endParaRPr b="0" i="0" sz="683" u="none" cap="none" strike="noStrike">
              <a:solidFill>
                <a:schemeClr val="dk1"/>
              </a:solidFill>
              <a:latin typeface="Calibri"/>
              <a:ea typeface="Calibri"/>
              <a:cs typeface="Calibri"/>
              <a:sym typeface="Calibri"/>
            </a:endParaRPr>
          </a:p>
        </p:txBody>
      </p:sp>
      <p:sp>
        <p:nvSpPr>
          <p:cNvPr id="219" name="Google Shape;219;p13"/>
          <p:cNvSpPr/>
          <p:nvPr/>
        </p:nvSpPr>
        <p:spPr>
          <a:xfrm>
            <a:off x="4750594" y="2075929"/>
            <a:ext cx="3821906" cy="297135"/>
          </a:xfrm>
          <a:prstGeom prst="rect">
            <a:avLst/>
          </a:prstGeom>
          <a:noFill/>
          <a:ln>
            <a:noFill/>
          </a:ln>
        </p:spPr>
        <p:txBody>
          <a:bodyPr anchorCtr="0" anchor="t" bIns="0" lIns="170050" spcFirstLastPara="1" rIns="0" wrap="square" tIns="0">
            <a:noAutofit/>
          </a:bodyPr>
          <a:lstStyle/>
          <a:p>
            <a:pPr indent="0" lvl="0" marL="0" marR="0" rtl="0" algn="l">
              <a:lnSpc>
                <a:spcPct val="178041"/>
              </a:lnSpc>
              <a:spcBef>
                <a:spcPts val="0"/>
              </a:spcBef>
              <a:spcAft>
                <a:spcPts val="0"/>
              </a:spcAft>
              <a:buClr>
                <a:srgbClr val="333333"/>
              </a:buClr>
              <a:buSzPts val="634"/>
              <a:buFont typeface="Calibri"/>
              <a:buNone/>
            </a:pPr>
            <a:r>
              <a:rPr b="1" i="0" lang="en-US" sz="634" u="none" cap="none" strike="noStrike">
                <a:solidFill>
                  <a:srgbClr val="333333"/>
                </a:solidFill>
                <a:latin typeface="Calibri"/>
                <a:ea typeface="Calibri"/>
                <a:cs typeface="Calibri"/>
                <a:sym typeface="Calibri"/>
              </a:rPr>
              <a:t>GRU &amp; LSTM:</a:t>
            </a:r>
            <a:r>
              <a:rPr b="0" i="0" lang="en-US" sz="674" u="none" cap="none" strike="noStrike">
                <a:solidFill>
                  <a:srgbClr val="333333"/>
                </a:solidFill>
                <a:latin typeface="Calibri"/>
                <a:ea typeface="Calibri"/>
                <a:cs typeface="Calibri"/>
                <a:sym typeface="Calibri"/>
              </a:rPr>
              <a:t> Should show significantly higher diagonal values (TP and TN) compared to RNN, indicating fewer misclassifications.</a:t>
            </a:r>
            <a:endParaRPr b="0" i="0" sz="634" u="none" cap="none" strike="noStrike">
              <a:solidFill>
                <a:schemeClr val="dk1"/>
              </a:solidFill>
              <a:latin typeface="Calibri"/>
              <a:ea typeface="Calibri"/>
              <a:cs typeface="Calibri"/>
              <a:sym typeface="Calibri"/>
            </a:endParaRPr>
          </a:p>
        </p:txBody>
      </p:sp>
      <p:sp>
        <p:nvSpPr>
          <p:cNvPr id="220" name="Google Shape;220;p13"/>
          <p:cNvSpPr/>
          <p:nvPr/>
        </p:nvSpPr>
        <p:spPr>
          <a:xfrm>
            <a:off x="4750594" y="2458789"/>
            <a:ext cx="3821906" cy="297135"/>
          </a:xfrm>
          <a:prstGeom prst="rect">
            <a:avLst/>
          </a:prstGeom>
          <a:noFill/>
          <a:ln>
            <a:noFill/>
          </a:ln>
        </p:spPr>
        <p:txBody>
          <a:bodyPr anchorCtr="0" anchor="t" bIns="0" lIns="170050" spcFirstLastPara="1" rIns="0" wrap="square" tIns="0">
            <a:noAutofit/>
          </a:bodyPr>
          <a:lstStyle/>
          <a:p>
            <a:pPr indent="0" lvl="0" marL="0" marR="0" rtl="0" algn="l">
              <a:lnSpc>
                <a:spcPct val="178041"/>
              </a:lnSpc>
              <a:spcBef>
                <a:spcPts val="0"/>
              </a:spcBef>
              <a:spcAft>
                <a:spcPts val="0"/>
              </a:spcAft>
              <a:buClr>
                <a:srgbClr val="333333"/>
              </a:buClr>
              <a:buSzPts val="634"/>
              <a:buFont typeface="Calibri"/>
              <a:buNone/>
            </a:pPr>
            <a:r>
              <a:rPr b="1" i="0" lang="en-US" sz="634" u="none" cap="none" strike="noStrike">
                <a:solidFill>
                  <a:srgbClr val="333333"/>
                </a:solidFill>
                <a:latin typeface="Calibri"/>
                <a:ea typeface="Calibri"/>
                <a:cs typeface="Calibri"/>
                <a:sym typeface="Calibri"/>
              </a:rPr>
              <a:t>RNN:</a:t>
            </a:r>
            <a:r>
              <a:rPr b="0" i="0" lang="en-US" sz="674" u="none" cap="none" strike="noStrike">
                <a:solidFill>
                  <a:srgbClr val="333333"/>
                </a:solidFill>
                <a:latin typeface="Calibri"/>
                <a:ea typeface="Calibri"/>
                <a:cs typeface="Calibri"/>
                <a:sym typeface="Calibri"/>
              </a:rPr>
              <a:t> Expected to have more off-diagonal values (FP and FN), visually confirming the difficulty it has in learning due to the vanishing gradient problem.</a:t>
            </a:r>
            <a:endParaRPr b="0" i="0" sz="634" u="none" cap="none" strike="noStrike">
              <a:solidFill>
                <a:schemeClr val="dk1"/>
              </a:solidFill>
              <a:latin typeface="Calibri"/>
              <a:ea typeface="Calibri"/>
              <a:cs typeface="Calibri"/>
              <a:sym typeface="Calibri"/>
            </a:endParaRPr>
          </a:p>
        </p:txBody>
      </p:sp>
      <p:sp>
        <p:nvSpPr>
          <p:cNvPr id="221" name="Google Shape;221;p13"/>
          <p:cNvSpPr/>
          <p:nvPr/>
        </p:nvSpPr>
        <p:spPr>
          <a:xfrm>
            <a:off x="4750594" y="2841650"/>
            <a:ext cx="3821906" cy="297135"/>
          </a:xfrm>
          <a:prstGeom prst="rect">
            <a:avLst/>
          </a:prstGeom>
          <a:noFill/>
          <a:ln>
            <a:noFill/>
          </a:ln>
        </p:spPr>
        <p:txBody>
          <a:bodyPr anchorCtr="0" anchor="t" bIns="0" lIns="170050" spcFirstLastPara="1" rIns="0" wrap="square" tIns="0">
            <a:noAutofit/>
          </a:bodyPr>
          <a:lstStyle/>
          <a:p>
            <a:pPr indent="0" lvl="0" marL="0" marR="0" rtl="0" algn="l">
              <a:lnSpc>
                <a:spcPct val="178041"/>
              </a:lnSpc>
              <a:spcBef>
                <a:spcPts val="0"/>
              </a:spcBef>
              <a:spcAft>
                <a:spcPts val="0"/>
              </a:spcAft>
              <a:buClr>
                <a:srgbClr val="333333"/>
              </a:buClr>
              <a:buSzPts val="634"/>
              <a:buFont typeface="Calibri"/>
              <a:buNone/>
            </a:pPr>
            <a:r>
              <a:rPr b="1" i="0" lang="en-US" sz="634" u="none" cap="none" strike="noStrike">
                <a:solidFill>
                  <a:srgbClr val="333333"/>
                </a:solidFill>
                <a:latin typeface="Calibri"/>
                <a:ea typeface="Calibri"/>
                <a:cs typeface="Calibri"/>
                <a:sym typeface="Calibri"/>
              </a:rPr>
              <a:t>Balance:</a:t>
            </a:r>
            <a:r>
              <a:rPr b="0" i="0" lang="en-US" sz="674" u="none" cap="none" strike="noStrike">
                <a:solidFill>
                  <a:srgbClr val="333333"/>
                </a:solidFill>
                <a:latin typeface="Calibri"/>
                <a:ea typeface="Calibri"/>
                <a:cs typeface="Calibri"/>
                <a:sym typeface="Calibri"/>
              </a:rPr>
              <a:t> All models should show a reasonable balance between classifying positive and negative sentiments correctly.</a:t>
            </a:r>
            <a:endParaRPr b="0" i="0" sz="634" u="none" cap="none" strike="noStrike">
              <a:solidFill>
                <a:schemeClr val="dk1"/>
              </a:solidFill>
              <a:latin typeface="Calibri"/>
              <a:ea typeface="Calibri"/>
              <a:cs typeface="Calibri"/>
              <a:sym typeface="Calibri"/>
            </a:endParaRPr>
          </a:p>
        </p:txBody>
      </p:sp>
      <p:sp>
        <p:nvSpPr>
          <p:cNvPr id="222" name="Google Shape;222;p13"/>
          <p:cNvSpPr/>
          <p:nvPr/>
        </p:nvSpPr>
        <p:spPr>
          <a:xfrm>
            <a:off x="4750594" y="2075929"/>
            <a:ext cx="46434" cy="148568"/>
          </a:xfrm>
          <a:prstGeom prst="rect">
            <a:avLst/>
          </a:prstGeom>
          <a:noFill/>
          <a:ln>
            <a:noFill/>
          </a:ln>
        </p:spPr>
        <p:txBody>
          <a:bodyPr anchorCtr="0" anchor="t" bIns="0" lIns="0" spcFirstLastPara="1" rIns="0" wrap="square" tIns="0">
            <a:noAutofit/>
          </a:bodyPr>
          <a:lstStyle/>
          <a:p>
            <a:pPr indent="0" lvl="0" marL="0" marR="0" rtl="0" algn="l">
              <a:lnSpc>
                <a:spcPct val="189274"/>
              </a:lnSpc>
              <a:spcBef>
                <a:spcPts val="0"/>
              </a:spcBef>
              <a:spcAft>
                <a:spcPts val="0"/>
              </a:spcAft>
              <a:buClr>
                <a:srgbClr val="0044CC"/>
              </a:buClr>
              <a:buSzPts val="634"/>
              <a:buFont typeface="Calibri"/>
              <a:buNone/>
            </a:pPr>
            <a:r>
              <a:rPr b="1" i="0" lang="en-US" sz="634" u="none" cap="none" strike="noStrike">
                <a:solidFill>
                  <a:srgbClr val="0044CC"/>
                </a:solidFill>
                <a:latin typeface="Calibri"/>
                <a:ea typeface="Calibri"/>
                <a:cs typeface="Calibri"/>
                <a:sym typeface="Calibri"/>
              </a:rPr>
              <a:t>▸</a:t>
            </a:r>
            <a:endParaRPr b="0" i="0" sz="634" u="none" cap="none" strike="noStrike">
              <a:solidFill>
                <a:schemeClr val="dk1"/>
              </a:solidFill>
              <a:latin typeface="Calibri"/>
              <a:ea typeface="Calibri"/>
              <a:cs typeface="Calibri"/>
              <a:sym typeface="Calibri"/>
            </a:endParaRPr>
          </a:p>
        </p:txBody>
      </p:sp>
      <p:sp>
        <p:nvSpPr>
          <p:cNvPr id="223" name="Google Shape;223;p13"/>
          <p:cNvSpPr/>
          <p:nvPr/>
        </p:nvSpPr>
        <p:spPr>
          <a:xfrm>
            <a:off x="4750594" y="2458789"/>
            <a:ext cx="46434" cy="148568"/>
          </a:xfrm>
          <a:prstGeom prst="rect">
            <a:avLst/>
          </a:prstGeom>
          <a:noFill/>
          <a:ln>
            <a:noFill/>
          </a:ln>
        </p:spPr>
        <p:txBody>
          <a:bodyPr anchorCtr="0" anchor="t" bIns="0" lIns="0" spcFirstLastPara="1" rIns="0" wrap="square" tIns="0">
            <a:noAutofit/>
          </a:bodyPr>
          <a:lstStyle/>
          <a:p>
            <a:pPr indent="0" lvl="0" marL="0" marR="0" rtl="0" algn="l">
              <a:lnSpc>
                <a:spcPct val="189274"/>
              </a:lnSpc>
              <a:spcBef>
                <a:spcPts val="0"/>
              </a:spcBef>
              <a:spcAft>
                <a:spcPts val="0"/>
              </a:spcAft>
              <a:buClr>
                <a:srgbClr val="0044CC"/>
              </a:buClr>
              <a:buSzPts val="634"/>
              <a:buFont typeface="Calibri"/>
              <a:buNone/>
            </a:pPr>
            <a:r>
              <a:rPr b="1" i="0" lang="en-US" sz="634" u="none" cap="none" strike="noStrike">
                <a:solidFill>
                  <a:srgbClr val="0044CC"/>
                </a:solidFill>
                <a:latin typeface="Calibri"/>
                <a:ea typeface="Calibri"/>
                <a:cs typeface="Calibri"/>
                <a:sym typeface="Calibri"/>
              </a:rPr>
              <a:t>▸</a:t>
            </a:r>
            <a:endParaRPr b="0" i="0" sz="634" u="none" cap="none" strike="noStrike">
              <a:solidFill>
                <a:schemeClr val="dk1"/>
              </a:solidFill>
              <a:latin typeface="Calibri"/>
              <a:ea typeface="Calibri"/>
              <a:cs typeface="Calibri"/>
              <a:sym typeface="Calibri"/>
            </a:endParaRPr>
          </a:p>
        </p:txBody>
      </p:sp>
      <p:sp>
        <p:nvSpPr>
          <p:cNvPr id="224" name="Google Shape;224;p13"/>
          <p:cNvSpPr/>
          <p:nvPr/>
        </p:nvSpPr>
        <p:spPr>
          <a:xfrm>
            <a:off x="4750594" y="2841650"/>
            <a:ext cx="46434" cy="148568"/>
          </a:xfrm>
          <a:prstGeom prst="rect">
            <a:avLst/>
          </a:prstGeom>
          <a:noFill/>
          <a:ln>
            <a:noFill/>
          </a:ln>
        </p:spPr>
        <p:txBody>
          <a:bodyPr anchorCtr="0" anchor="t" bIns="0" lIns="0" spcFirstLastPara="1" rIns="0" wrap="square" tIns="0">
            <a:noAutofit/>
          </a:bodyPr>
          <a:lstStyle/>
          <a:p>
            <a:pPr indent="0" lvl="0" marL="0" marR="0" rtl="0" algn="l">
              <a:lnSpc>
                <a:spcPct val="189274"/>
              </a:lnSpc>
              <a:spcBef>
                <a:spcPts val="0"/>
              </a:spcBef>
              <a:spcAft>
                <a:spcPts val="0"/>
              </a:spcAft>
              <a:buClr>
                <a:srgbClr val="0044CC"/>
              </a:buClr>
              <a:buSzPts val="634"/>
              <a:buFont typeface="Calibri"/>
              <a:buNone/>
            </a:pPr>
            <a:r>
              <a:rPr b="1" i="0" lang="en-US" sz="634" u="none" cap="none" strike="noStrike">
                <a:solidFill>
                  <a:srgbClr val="0044CC"/>
                </a:solidFill>
                <a:latin typeface="Calibri"/>
                <a:ea typeface="Calibri"/>
                <a:cs typeface="Calibri"/>
                <a:sym typeface="Calibri"/>
              </a:rPr>
              <a:t>▸</a:t>
            </a:r>
            <a:endParaRPr b="0" i="0" sz="634"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descr="preencoded.png" id="230" name="Google Shape;230;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1" name="Google Shape;231;p14"/>
          <p:cNvSpPr/>
          <p:nvPr/>
        </p:nvSpPr>
        <p:spPr>
          <a:xfrm>
            <a:off x="571500" y="428625"/>
            <a:ext cx="8001000" cy="194667"/>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44CC"/>
              </a:buClr>
              <a:buSzPts val="987"/>
              <a:buFont typeface="Calibri"/>
              <a:buNone/>
            </a:pPr>
            <a:r>
              <a:rPr b="1" i="0" lang="en-US" sz="987" u="none" cap="none" strike="noStrike">
                <a:solidFill>
                  <a:srgbClr val="0044CC"/>
                </a:solidFill>
                <a:latin typeface="Calibri"/>
                <a:ea typeface="Calibri"/>
                <a:cs typeface="Calibri"/>
                <a:sym typeface="Calibri"/>
              </a:rPr>
              <a:t>Conclusion and Future Work</a:t>
            </a:r>
            <a:endParaRPr b="0" i="0" sz="987" u="none" cap="none" strike="noStrike">
              <a:solidFill>
                <a:schemeClr val="dk1"/>
              </a:solidFill>
              <a:latin typeface="Calibri"/>
              <a:ea typeface="Calibri"/>
              <a:cs typeface="Calibri"/>
              <a:sym typeface="Calibri"/>
            </a:endParaRPr>
          </a:p>
        </p:txBody>
      </p:sp>
      <p:sp>
        <p:nvSpPr>
          <p:cNvPr id="232" name="Google Shape;232;p14"/>
          <p:cNvSpPr/>
          <p:nvPr/>
        </p:nvSpPr>
        <p:spPr>
          <a:xfrm>
            <a:off x="571500" y="980480"/>
            <a:ext cx="3786188" cy="242888"/>
          </a:xfrm>
          <a:prstGeom prst="rect">
            <a:avLst/>
          </a:prstGeom>
          <a:noFill/>
          <a:ln>
            <a:noFill/>
          </a:ln>
        </p:spPr>
        <p:txBody>
          <a:bodyPr anchorCtr="0" anchor="t" bIns="10210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Key Findings</a:t>
            </a:r>
            <a:endParaRPr b="0" i="0" sz="683" u="none" cap="none" strike="noStrike">
              <a:solidFill>
                <a:schemeClr val="dk1"/>
              </a:solidFill>
              <a:latin typeface="Calibri"/>
              <a:ea typeface="Calibri"/>
              <a:cs typeface="Calibri"/>
              <a:sym typeface="Calibri"/>
            </a:endParaRPr>
          </a:p>
        </p:txBody>
      </p:sp>
      <p:sp>
        <p:nvSpPr>
          <p:cNvPr id="233" name="Google Shape;233;p14"/>
          <p:cNvSpPr/>
          <p:nvPr/>
        </p:nvSpPr>
        <p:spPr>
          <a:xfrm>
            <a:off x="571500" y="1437680"/>
            <a:ext cx="97585" cy="221456"/>
          </a:xfrm>
          <a:prstGeom prst="rect">
            <a:avLst/>
          </a:prstGeom>
          <a:noFill/>
          <a:ln>
            <a:noFill/>
          </a:ln>
        </p:spPr>
        <p:txBody>
          <a:bodyPr anchorCtr="0" anchor="t" bIns="0" lIns="0" spcFirstLastPara="1" rIns="0" wrap="square" tIns="17000">
            <a:noAutofit/>
          </a:bodyPr>
          <a:lstStyle/>
          <a:p>
            <a:pPr indent="0" lvl="0" marL="0" marR="0" rtl="0" algn="l">
              <a:lnSpc>
                <a:spcPct val="133333"/>
              </a:lnSpc>
              <a:spcBef>
                <a:spcPts val="0"/>
              </a:spcBef>
              <a:spcAft>
                <a:spcPts val="0"/>
              </a:spcAft>
              <a:buClr>
                <a:srgbClr val="0044CC"/>
              </a:buClr>
              <a:buSzPts val="1050"/>
              <a:buFont typeface="Calibri"/>
              <a:buNone/>
            </a:pPr>
            <a:r>
              <a:rPr b="0" i="0" lang="en-US" sz="1050" u="none" cap="none" strike="noStrike">
                <a:solidFill>
                  <a:srgbClr val="0044CC"/>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p:txBody>
      </p:sp>
      <p:sp>
        <p:nvSpPr>
          <p:cNvPr id="234" name="Google Shape;234;p14"/>
          <p:cNvSpPr/>
          <p:nvPr/>
        </p:nvSpPr>
        <p:spPr>
          <a:xfrm>
            <a:off x="776241" y="1437680"/>
            <a:ext cx="3581447"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GRU is Optimal</a:t>
            </a:r>
            <a:endParaRPr b="0" i="0" sz="634" u="none" cap="none" strike="noStrike">
              <a:solidFill>
                <a:schemeClr val="dk1"/>
              </a:solidFill>
              <a:latin typeface="Calibri"/>
              <a:ea typeface="Calibri"/>
              <a:cs typeface="Calibri"/>
              <a:sym typeface="Calibri"/>
            </a:endParaRPr>
          </a:p>
        </p:txBody>
      </p:sp>
      <p:sp>
        <p:nvSpPr>
          <p:cNvPr id="235" name="Google Shape;235;p14"/>
          <p:cNvSpPr/>
          <p:nvPr/>
        </p:nvSpPr>
        <p:spPr>
          <a:xfrm>
            <a:off x="776241" y="1593056"/>
            <a:ext cx="3581447" cy="128588"/>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333333"/>
              </a:buClr>
              <a:buSzPts val="621"/>
              <a:buFont typeface="Calibri"/>
              <a:buNone/>
            </a:pPr>
            <a:r>
              <a:rPr b="0" i="0" lang="en-US" sz="621" u="none" cap="none" strike="noStrike">
                <a:solidFill>
                  <a:srgbClr val="333333"/>
                </a:solidFill>
                <a:latin typeface="Calibri"/>
                <a:ea typeface="Calibri"/>
                <a:cs typeface="Calibri"/>
                <a:sym typeface="Calibri"/>
              </a:rPr>
              <a:t>Achieved the highest test accuracy of </a:t>
            </a:r>
            <a:r>
              <a:rPr b="1" i="0" lang="en-US" sz="584" u="none" cap="none" strike="noStrike">
                <a:solidFill>
                  <a:srgbClr val="0044CC"/>
                </a:solidFill>
                <a:latin typeface="Calibri"/>
                <a:ea typeface="Calibri"/>
                <a:cs typeface="Calibri"/>
                <a:sym typeface="Calibri"/>
              </a:rPr>
              <a:t>83.01%</a:t>
            </a:r>
            <a:r>
              <a:rPr b="0" i="0" lang="en-US" sz="621" u="none" cap="none" strike="noStrike">
                <a:solidFill>
                  <a:srgbClr val="333333"/>
                </a:solidFill>
                <a:latin typeface="Calibri"/>
                <a:ea typeface="Calibri"/>
                <a:cs typeface="Calibri"/>
                <a:sym typeface="Calibri"/>
              </a:rPr>
              <a:t> with an F1-score of </a:t>
            </a:r>
            <a:r>
              <a:rPr b="1" i="0" lang="en-US" sz="584" u="none" cap="none" strike="noStrike">
                <a:solidFill>
                  <a:srgbClr val="0044CC"/>
                </a:solidFill>
                <a:latin typeface="Calibri"/>
                <a:ea typeface="Calibri"/>
                <a:cs typeface="Calibri"/>
                <a:sym typeface="Calibri"/>
              </a:rPr>
              <a:t>82.88%</a:t>
            </a:r>
            <a:r>
              <a:rPr b="0" i="0" lang="en-US" sz="621" u="none" cap="none" strike="noStrike">
                <a:solidFill>
                  <a:srgbClr val="333333"/>
                </a:solidFill>
                <a:latin typeface="Calibri"/>
                <a:ea typeface="Calibri"/>
                <a:cs typeface="Calibri"/>
                <a:sym typeface="Calibri"/>
              </a:rPr>
              <a:t>.</a:t>
            </a:r>
            <a:endParaRPr b="0" i="0" sz="621" u="none" cap="none" strike="noStrike">
              <a:solidFill>
                <a:schemeClr val="dk1"/>
              </a:solidFill>
              <a:latin typeface="Calibri"/>
              <a:ea typeface="Calibri"/>
              <a:cs typeface="Calibri"/>
              <a:sym typeface="Calibri"/>
            </a:endParaRPr>
          </a:p>
        </p:txBody>
      </p:sp>
      <p:sp>
        <p:nvSpPr>
          <p:cNvPr id="236" name="Google Shape;236;p14"/>
          <p:cNvSpPr/>
          <p:nvPr/>
        </p:nvSpPr>
        <p:spPr>
          <a:xfrm>
            <a:off x="571500" y="1864519"/>
            <a:ext cx="97585" cy="221456"/>
          </a:xfrm>
          <a:prstGeom prst="rect">
            <a:avLst/>
          </a:prstGeom>
          <a:noFill/>
          <a:ln>
            <a:noFill/>
          </a:ln>
        </p:spPr>
        <p:txBody>
          <a:bodyPr anchorCtr="0" anchor="t" bIns="0" lIns="0" spcFirstLastPara="1" rIns="0" wrap="square" tIns="17000">
            <a:noAutofit/>
          </a:bodyPr>
          <a:lstStyle/>
          <a:p>
            <a:pPr indent="0" lvl="0" marL="0" marR="0" rtl="0" algn="l">
              <a:lnSpc>
                <a:spcPct val="133333"/>
              </a:lnSpc>
              <a:spcBef>
                <a:spcPts val="0"/>
              </a:spcBef>
              <a:spcAft>
                <a:spcPts val="0"/>
              </a:spcAft>
              <a:buClr>
                <a:srgbClr val="0044CC"/>
              </a:buClr>
              <a:buSzPts val="1050"/>
              <a:buFont typeface="Calibri"/>
              <a:buNone/>
            </a:pPr>
            <a:r>
              <a:rPr b="0" i="0" lang="en-US" sz="1050" u="none" cap="none" strike="noStrike">
                <a:solidFill>
                  <a:srgbClr val="0044CC"/>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p:txBody>
      </p:sp>
      <p:sp>
        <p:nvSpPr>
          <p:cNvPr id="237" name="Google Shape;237;p14"/>
          <p:cNvSpPr/>
          <p:nvPr/>
        </p:nvSpPr>
        <p:spPr>
          <a:xfrm>
            <a:off x="776241" y="1864519"/>
            <a:ext cx="3581447"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Efficiency Advantage</a:t>
            </a:r>
            <a:endParaRPr b="0" i="0" sz="634" u="none" cap="none" strike="noStrike">
              <a:solidFill>
                <a:schemeClr val="dk1"/>
              </a:solidFill>
              <a:latin typeface="Calibri"/>
              <a:ea typeface="Calibri"/>
              <a:cs typeface="Calibri"/>
              <a:sym typeface="Calibri"/>
            </a:endParaRPr>
          </a:p>
        </p:txBody>
      </p:sp>
      <p:sp>
        <p:nvSpPr>
          <p:cNvPr id="238" name="Google Shape;238;p14"/>
          <p:cNvSpPr/>
          <p:nvPr/>
        </p:nvSpPr>
        <p:spPr>
          <a:xfrm>
            <a:off x="776241" y="2019895"/>
            <a:ext cx="3581447" cy="257175"/>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333333"/>
              </a:buClr>
              <a:buSzPts val="621"/>
              <a:buFont typeface="Calibri"/>
              <a:buNone/>
            </a:pPr>
            <a:r>
              <a:rPr b="0" i="0" lang="en-US" sz="621" u="none" cap="none" strike="noStrike">
                <a:solidFill>
                  <a:srgbClr val="333333"/>
                </a:solidFill>
                <a:latin typeface="Calibri"/>
                <a:ea typeface="Calibri"/>
                <a:cs typeface="Calibri"/>
                <a:sym typeface="Calibri"/>
              </a:rPr>
              <a:t>GRU's simpler architecture delivers superior performance with </a:t>
            </a:r>
            <a:r>
              <a:rPr b="1" i="0" lang="en-US" sz="584" u="none" cap="none" strike="noStrike">
                <a:solidFill>
                  <a:srgbClr val="0044CC"/>
                </a:solidFill>
                <a:latin typeface="Calibri"/>
                <a:ea typeface="Calibri"/>
                <a:cs typeface="Calibri"/>
                <a:sym typeface="Calibri"/>
              </a:rPr>
              <a:t>fewer parameters</a:t>
            </a:r>
            <a:r>
              <a:rPr b="0" i="0" lang="en-US" sz="621" u="none" cap="none" strike="noStrike">
                <a:solidFill>
                  <a:srgbClr val="333333"/>
                </a:solidFill>
                <a:latin typeface="Calibri"/>
                <a:ea typeface="Calibri"/>
                <a:cs typeface="Calibri"/>
                <a:sym typeface="Calibri"/>
              </a:rPr>
              <a:t> and </a:t>
            </a:r>
            <a:r>
              <a:rPr b="1" i="0" lang="en-US" sz="584" u="none" cap="none" strike="noStrike">
                <a:solidFill>
                  <a:srgbClr val="0044CC"/>
                </a:solidFill>
                <a:latin typeface="Calibri"/>
                <a:ea typeface="Calibri"/>
                <a:cs typeface="Calibri"/>
                <a:sym typeface="Calibri"/>
              </a:rPr>
              <a:t>faster training</a:t>
            </a:r>
            <a:r>
              <a:rPr b="0" i="0" lang="en-US" sz="621" u="none" cap="none" strike="noStrike">
                <a:solidFill>
                  <a:srgbClr val="333333"/>
                </a:solidFill>
                <a:latin typeface="Calibri"/>
                <a:ea typeface="Calibri"/>
                <a:cs typeface="Calibri"/>
                <a:sym typeface="Calibri"/>
              </a:rPr>
              <a:t> than LSTM.</a:t>
            </a:r>
            <a:endParaRPr b="0" i="0" sz="621" u="none" cap="none" strike="noStrike">
              <a:solidFill>
                <a:schemeClr val="dk1"/>
              </a:solidFill>
              <a:latin typeface="Calibri"/>
              <a:ea typeface="Calibri"/>
              <a:cs typeface="Calibri"/>
              <a:sym typeface="Calibri"/>
            </a:endParaRPr>
          </a:p>
        </p:txBody>
      </p:sp>
      <p:sp>
        <p:nvSpPr>
          <p:cNvPr id="239" name="Google Shape;239;p14"/>
          <p:cNvSpPr/>
          <p:nvPr/>
        </p:nvSpPr>
        <p:spPr>
          <a:xfrm>
            <a:off x="571500" y="2419945"/>
            <a:ext cx="97585" cy="221456"/>
          </a:xfrm>
          <a:prstGeom prst="rect">
            <a:avLst/>
          </a:prstGeom>
          <a:noFill/>
          <a:ln>
            <a:noFill/>
          </a:ln>
        </p:spPr>
        <p:txBody>
          <a:bodyPr anchorCtr="0" anchor="t" bIns="0" lIns="0" spcFirstLastPara="1" rIns="0" wrap="square" tIns="17000">
            <a:noAutofit/>
          </a:bodyPr>
          <a:lstStyle/>
          <a:p>
            <a:pPr indent="0" lvl="0" marL="0" marR="0" rtl="0" algn="l">
              <a:lnSpc>
                <a:spcPct val="133333"/>
              </a:lnSpc>
              <a:spcBef>
                <a:spcPts val="0"/>
              </a:spcBef>
              <a:spcAft>
                <a:spcPts val="0"/>
              </a:spcAft>
              <a:buClr>
                <a:srgbClr val="0044CC"/>
              </a:buClr>
              <a:buSzPts val="1050"/>
              <a:buFont typeface="Calibri"/>
              <a:buNone/>
            </a:pPr>
            <a:r>
              <a:rPr b="0" i="0" lang="en-US" sz="1050" u="none" cap="none" strike="noStrike">
                <a:solidFill>
                  <a:srgbClr val="0044CC"/>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p:txBody>
      </p:sp>
      <p:sp>
        <p:nvSpPr>
          <p:cNvPr id="240" name="Google Shape;240;p14"/>
          <p:cNvSpPr/>
          <p:nvPr/>
        </p:nvSpPr>
        <p:spPr>
          <a:xfrm>
            <a:off x="776241" y="2419945"/>
            <a:ext cx="3581447"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Gating is Essential</a:t>
            </a:r>
            <a:endParaRPr b="0" i="0" sz="634" u="none" cap="none" strike="noStrike">
              <a:solidFill>
                <a:schemeClr val="dk1"/>
              </a:solidFill>
              <a:latin typeface="Calibri"/>
              <a:ea typeface="Calibri"/>
              <a:cs typeface="Calibri"/>
              <a:sym typeface="Calibri"/>
            </a:endParaRPr>
          </a:p>
        </p:txBody>
      </p:sp>
      <p:sp>
        <p:nvSpPr>
          <p:cNvPr id="241" name="Google Shape;241;p14"/>
          <p:cNvSpPr/>
          <p:nvPr/>
        </p:nvSpPr>
        <p:spPr>
          <a:xfrm>
            <a:off x="776241" y="2575322"/>
            <a:ext cx="3581447" cy="257175"/>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333333"/>
              </a:buClr>
              <a:buSzPts val="621"/>
              <a:buFont typeface="Calibri"/>
              <a:buNone/>
            </a:pPr>
            <a:r>
              <a:rPr b="0" i="0" lang="en-US" sz="621" u="none" cap="none" strike="noStrike">
                <a:solidFill>
                  <a:srgbClr val="333333"/>
                </a:solidFill>
                <a:latin typeface="Calibri"/>
                <a:ea typeface="Calibri"/>
                <a:cs typeface="Calibri"/>
                <a:sym typeface="Calibri"/>
              </a:rPr>
              <a:t>The study confirms that gating mechanisms are </a:t>
            </a:r>
            <a:r>
              <a:rPr b="1" i="0" lang="en-US" sz="584" u="none" cap="none" strike="noStrike">
                <a:solidFill>
                  <a:srgbClr val="0044CC"/>
                </a:solidFill>
                <a:latin typeface="Calibri"/>
                <a:ea typeface="Calibri"/>
                <a:cs typeface="Calibri"/>
                <a:sym typeface="Calibri"/>
              </a:rPr>
              <a:t>mandatory</a:t>
            </a:r>
            <a:r>
              <a:rPr b="0" i="0" lang="en-US" sz="621" u="none" cap="none" strike="noStrike">
                <a:solidFill>
                  <a:srgbClr val="333333"/>
                </a:solidFill>
                <a:latin typeface="Calibri"/>
                <a:ea typeface="Calibri"/>
                <a:cs typeface="Calibri"/>
                <a:sym typeface="Calibri"/>
              </a:rPr>
              <a:t> for effective sentiment analysis on sequential data.</a:t>
            </a:r>
            <a:endParaRPr b="0" i="0" sz="621" u="none" cap="none" strike="noStrike">
              <a:solidFill>
                <a:schemeClr val="dk1"/>
              </a:solidFill>
              <a:latin typeface="Calibri"/>
              <a:ea typeface="Calibri"/>
              <a:cs typeface="Calibri"/>
              <a:sym typeface="Calibri"/>
            </a:endParaRPr>
          </a:p>
        </p:txBody>
      </p:sp>
      <p:sp>
        <p:nvSpPr>
          <p:cNvPr id="242" name="Google Shape;242;p14"/>
          <p:cNvSpPr/>
          <p:nvPr/>
        </p:nvSpPr>
        <p:spPr>
          <a:xfrm>
            <a:off x="4786313" y="980480"/>
            <a:ext cx="3786188" cy="242888"/>
          </a:xfrm>
          <a:prstGeom prst="rect">
            <a:avLst/>
          </a:prstGeom>
          <a:noFill/>
          <a:ln>
            <a:noFill/>
          </a:ln>
        </p:spPr>
        <p:txBody>
          <a:bodyPr anchorCtr="0" anchor="t" bIns="102100" lIns="0" spcFirstLastPara="1" rIns="0" wrap="square" tIns="0">
            <a:noAutofit/>
          </a:bodyPr>
          <a:lstStyle/>
          <a:p>
            <a:pPr indent="0" lvl="0" marL="0" marR="0" rtl="0" algn="l">
              <a:lnSpc>
                <a:spcPct val="131771"/>
              </a:lnSpc>
              <a:spcBef>
                <a:spcPts val="0"/>
              </a:spcBef>
              <a:spcAft>
                <a:spcPts val="0"/>
              </a:spcAft>
              <a:buClr>
                <a:srgbClr val="000000"/>
              </a:buClr>
              <a:buSzPts val="683"/>
              <a:buFont typeface="Calibri"/>
              <a:buNone/>
            </a:pPr>
            <a:r>
              <a:rPr b="1" i="0" lang="en-US" sz="683" u="none" cap="none" strike="noStrike">
                <a:solidFill>
                  <a:srgbClr val="000000"/>
                </a:solidFill>
                <a:latin typeface="Calibri"/>
                <a:ea typeface="Calibri"/>
                <a:cs typeface="Calibri"/>
                <a:sym typeface="Calibri"/>
              </a:rPr>
              <a:t>Future Work</a:t>
            </a:r>
            <a:endParaRPr b="0" i="0" sz="683" u="none" cap="none" strike="noStrike">
              <a:solidFill>
                <a:schemeClr val="dk1"/>
              </a:solidFill>
              <a:latin typeface="Calibri"/>
              <a:ea typeface="Calibri"/>
              <a:cs typeface="Calibri"/>
              <a:sym typeface="Calibri"/>
            </a:endParaRPr>
          </a:p>
        </p:txBody>
      </p:sp>
      <p:sp>
        <p:nvSpPr>
          <p:cNvPr id="243" name="Google Shape;243;p14"/>
          <p:cNvSpPr/>
          <p:nvPr/>
        </p:nvSpPr>
        <p:spPr>
          <a:xfrm>
            <a:off x="4922044" y="1437680"/>
            <a:ext cx="3650456"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Hybrid Models</a:t>
            </a:r>
            <a:endParaRPr b="0" i="0" sz="634" u="none" cap="none" strike="noStrike">
              <a:solidFill>
                <a:schemeClr val="dk1"/>
              </a:solidFill>
              <a:latin typeface="Calibri"/>
              <a:ea typeface="Calibri"/>
              <a:cs typeface="Calibri"/>
              <a:sym typeface="Calibri"/>
            </a:endParaRPr>
          </a:p>
        </p:txBody>
      </p:sp>
      <p:sp>
        <p:nvSpPr>
          <p:cNvPr id="244" name="Google Shape;244;p14"/>
          <p:cNvSpPr/>
          <p:nvPr/>
        </p:nvSpPr>
        <p:spPr>
          <a:xfrm>
            <a:off x="4922044" y="1600200"/>
            <a:ext cx="3650456" cy="257175"/>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333333"/>
              </a:buClr>
              <a:buSzPts val="621"/>
              <a:buFont typeface="Calibri"/>
              <a:buNone/>
            </a:pPr>
            <a:r>
              <a:rPr b="0" i="0" lang="en-US" sz="621" u="none" cap="none" strike="noStrike">
                <a:solidFill>
                  <a:srgbClr val="333333"/>
                </a:solidFill>
                <a:latin typeface="Calibri"/>
                <a:ea typeface="Calibri"/>
                <a:cs typeface="Calibri"/>
                <a:sym typeface="Calibri"/>
              </a:rPr>
              <a:t>Explore Bi-GRU-LSTM architectures to leverage strengths of both models for potential marginal performance gains.</a:t>
            </a:r>
            <a:endParaRPr b="0" i="0" sz="621" u="none" cap="none" strike="noStrike">
              <a:solidFill>
                <a:schemeClr val="dk1"/>
              </a:solidFill>
              <a:latin typeface="Calibri"/>
              <a:ea typeface="Calibri"/>
              <a:cs typeface="Calibri"/>
              <a:sym typeface="Calibri"/>
            </a:endParaRPr>
          </a:p>
        </p:txBody>
      </p:sp>
      <p:sp>
        <p:nvSpPr>
          <p:cNvPr id="245" name="Google Shape;245;p14"/>
          <p:cNvSpPr/>
          <p:nvPr/>
        </p:nvSpPr>
        <p:spPr>
          <a:xfrm>
            <a:off x="4922044" y="2000250"/>
            <a:ext cx="3650456"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Advanced Embeddings</a:t>
            </a:r>
            <a:endParaRPr b="0" i="0" sz="634" u="none" cap="none" strike="noStrike">
              <a:solidFill>
                <a:schemeClr val="dk1"/>
              </a:solidFill>
              <a:latin typeface="Calibri"/>
              <a:ea typeface="Calibri"/>
              <a:cs typeface="Calibri"/>
              <a:sym typeface="Calibri"/>
            </a:endParaRPr>
          </a:p>
        </p:txBody>
      </p:sp>
      <p:sp>
        <p:nvSpPr>
          <p:cNvPr id="246" name="Google Shape;246;p14"/>
          <p:cNvSpPr/>
          <p:nvPr/>
        </p:nvSpPr>
        <p:spPr>
          <a:xfrm>
            <a:off x="4922044" y="2162770"/>
            <a:ext cx="3650456" cy="257175"/>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333333"/>
              </a:buClr>
              <a:buSzPts val="621"/>
              <a:buFont typeface="Calibri"/>
              <a:buNone/>
            </a:pPr>
            <a:r>
              <a:rPr b="0" i="0" lang="en-US" sz="621" u="none" cap="none" strike="noStrike">
                <a:solidFill>
                  <a:srgbClr val="333333"/>
                </a:solidFill>
                <a:latin typeface="Calibri"/>
                <a:ea typeface="Calibri"/>
                <a:cs typeface="Calibri"/>
                <a:sym typeface="Calibri"/>
              </a:rPr>
              <a:t>Integrate pre-trained models like GloVe or BERT to provide richer semantic representations of text.</a:t>
            </a:r>
            <a:endParaRPr b="0" i="0" sz="621" u="none" cap="none" strike="noStrike">
              <a:solidFill>
                <a:schemeClr val="dk1"/>
              </a:solidFill>
              <a:latin typeface="Calibri"/>
              <a:ea typeface="Calibri"/>
              <a:cs typeface="Calibri"/>
              <a:sym typeface="Calibri"/>
            </a:endParaRPr>
          </a:p>
        </p:txBody>
      </p:sp>
      <p:sp>
        <p:nvSpPr>
          <p:cNvPr id="247" name="Google Shape;247;p14"/>
          <p:cNvSpPr/>
          <p:nvPr/>
        </p:nvSpPr>
        <p:spPr>
          <a:xfrm>
            <a:off x="4922044" y="2562820"/>
            <a:ext cx="3650456" cy="126802"/>
          </a:xfrm>
          <a:prstGeom prst="rect">
            <a:avLst/>
          </a:prstGeom>
          <a:noFill/>
          <a:ln>
            <a:noFill/>
          </a:ln>
        </p:spPr>
        <p:txBody>
          <a:bodyPr anchorCtr="0" anchor="t" bIns="0" lIns="0" spcFirstLastPara="1" rIns="0" wrap="square" tIns="0">
            <a:noAutofit/>
          </a:bodyPr>
          <a:lstStyle/>
          <a:p>
            <a:pPr indent="0" lvl="0" marL="0" marR="0" rtl="0" algn="l">
              <a:lnSpc>
                <a:spcPct val="141955"/>
              </a:lnSpc>
              <a:spcBef>
                <a:spcPts val="0"/>
              </a:spcBef>
              <a:spcAft>
                <a:spcPts val="0"/>
              </a:spcAft>
              <a:buClr>
                <a:srgbClr val="000000"/>
              </a:buClr>
              <a:buSzPts val="634"/>
              <a:buFont typeface="Calibri"/>
              <a:buNone/>
            </a:pPr>
            <a:r>
              <a:rPr b="1" i="0" lang="en-US" sz="634" u="none" cap="none" strike="noStrike">
                <a:solidFill>
                  <a:srgbClr val="000000"/>
                </a:solidFill>
                <a:latin typeface="Calibri"/>
                <a:ea typeface="Calibri"/>
                <a:cs typeface="Calibri"/>
                <a:sym typeface="Calibri"/>
              </a:rPr>
              <a:t>Aspect-Based SA</a:t>
            </a:r>
            <a:endParaRPr b="0" i="0" sz="634" u="none" cap="none" strike="noStrike">
              <a:solidFill>
                <a:schemeClr val="dk1"/>
              </a:solidFill>
              <a:latin typeface="Calibri"/>
              <a:ea typeface="Calibri"/>
              <a:cs typeface="Calibri"/>
              <a:sym typeface="Calibri"/>
            </a:endParaRPr>
          </a:p>
        </p:txBody>
      </p:sp>
      <p:sp>
        <p:nvSpPr>
          <p:cNvPr id="248" name="Google Shape;248;p14"/>
          <p:cNvSpPr/>
          <p:nvPr/>
        </p:nvSpPr>
        <p:spPr>
          <a:xfrm>
            <a:off x="4922044" y="2725341"/>
            <a:ext cx="3650456" cy="257175"/>
          </a:xfrm>
          <a:prstGeom prst="rect">
            <a:avLst/>
          </a:prstGeom>
          <a:noFill/>
          <a:ln>
            <a:noFill/>
          </a:ln>
        </p:spPr>
        <p:txBody>
          <a:bodyPr anchorCtr="0" anchor="t" bIns="0" lIns="0" spcFirstLastPara="1" rIns="0" wrap="square" tIns="0">
            <a:noAutofit/>
          </a:bodyPr>
          <a:lstStyle/>
          <a:p>
            <a:pPr indent="0" lvl="0" marL="0" marR="0" rtl="0" algn="l">
              <a:lnSpc>
                <a:spcPct val="161030"/>
              </a:lnSpc>
              <a:spcBef>
                <a:spcPts val="0"/>
              </a:spcBef>
              <a:spcAft>
                <a:spcPts val="0"/>
              </a:spcAft>
              <a:buClr>
                <a:srgbClr val="333333"/>
              </a:buClr>
              <a:buSzPts val="621"/>
              <a:buFont typeface="Calibri"/>
              <a:buNone/>
            </a:pPr>
            <a:r>
              <a:rPr b="0" i="0" lang="en-US" sz="621" u="none" cap="none" strike="noStrike">
                <a:solidFill>
                  <a:srgbClr val="333333"/>
                </a:solidFill>
                <a:latin typeface="Calibri"/>
                <a:ea typeface="Calibri"/>
                <a:cs typeface="Calibri"/>
                <a:sym typeface="Calibri"/>
              </a:rPr>
              <a:t>Move beyond document-level sentiment to aspect-level analysis for more granular insights into specific features.</a:t>
            </a:r>
            <a:endParaRPr b="0" i="0" sz="621" u="none" cap="none" strike="noStrike">
              <a:solidFill>
                <a:schemeClr val="dk1"/>
              </a:solidFill>
              <a:latin typeface="Calibri"/>
              <a:ea typeface="Calibri"/>
              <a:cs typeface="Calibri"/>
              <a:sym typeface="Calibri"/>
            </a:endParaRPr>
          </a:p>
        </p:txBody>
      </p:sp>
      <p:sp>
        <p:nvSpPr>
          <p:cNvPr id="249" name="Google Shape;249;p14"/>
          <p:cNvSpPr/>
          <p:nvPr/>
        </p:nvSpPr>
        <p:spPr>
          <a:xfrm>
            <a:off x="571500" y="3696891"/>
            <a:ext cx="8001000" cy="582885"/>
          </a:xfrm>
          <a:prstGeom prst="rect">
            <a:avLst/>
          </a:prstGeom>
          <a:solidFill>
            <a:srgbClr val="0044CC">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p:nvPr/>
        </p:nvSpPr>
        <p:spPr>
          <a:xfrm>
            <a:off x="571500" y="3696891"/>
            <a:ext cx="28575" cy="582885"/>
          </a:xfrm>
          <a:prstGeom prst="rect">
            <a:avLst/>
          </a:prstGeom>
          <a:solidFill>
            <a:srgbClr val="004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714375" y="3839766"/>
            <a:ext cx="7715250" cy="297135"/>
          </a:xfrm>
          <a:prstGeom prst="rect">
            <a:avLst/>
          </a:prstGeom>
          <a:noFill/>
          <a:ln>
            <a:noFill/>
          </a:ln>
        </p:spPr>
        <p:txBody>
          <a:bodyPr anchorCtr="0" anchor="t" bIns="0" lIns="0" spcFirstLastPara="1" rIns="0" wrap="square" tIns="0">
            <a:noAutofit/>
          </a:bodyPr>
          <a:lstStyle/>
          <a:p>
            <a:pPr indent="0" lvl="0" marL="0" marR="0" rtl="0" algn="l">
              <a:lnSpc>
                <a:spcPct val="178041"/>
              </a:lnSpc>
              <a:spcBef>
                <a:spcPts val="0"/>
              </a:spcBef>
              <a:spcAft>
                <a:spcPts val="0"/>
              </a:spcAft>
              <a:buClr>
                <a:srgbClr val="333333"/>
              </a:buClr>
              <a:buSzPts val="674"/>
              <a:buFont typeface="Calibri"/>
              <a:buNone/>
            </a:pPr>
            <a:r>
              <a:rPr b="0" i="1" lang="en-US" sz="674" u="none" cap="none" strike="noStrike">
                <a:solidFill>
                  <a:srgbClr val="333333"/>
                </a:solidFill>
                <a:latin typeface="Calibri"/>
                <a:ea typeface="Calibri"/>
                <a:cs typeface="Calibri"/>
                <a:sym typeface="Calibri"/>
              </a:rPr>
              <a:t>This comparative study provides a solid foundation for understanding the architectural differences between RNN variants and their impact on sentiment analysis performance. The GRU emerges as the optimal choice, balancing high accuracy with computational efficiency.</a:t>
            </a:r>
            <a:endParaRPr b="0" i="0" sz="674"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